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28"/>
  </p:notesMasterIdLst>
  <p:sldIdLst>
    <p:sldId id="468" r:id="rId2"/>
    <p:sldId id="437" r:id="rId3"/>
    <p:sldId id="438" r:id="rId4"/>
    <p:sldId id="469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74" r:id="rId24"/>
    <p:sldId id="460" r:id="rId25"/>
    <p:sldId id="472" r:id="rId26"/>
    <p:sldId id="47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A3E7A-54A7-4EF9-A71A-9AABD2310D1A}" v="3" dt="2026-10-12T22:44:11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535" autoAdjust="0"/>
  </p:normalViewPr>
  <p:slideViewPr>
    <p:cSldViewPr snapToGrid="0">
      <p:cViewPr varScale="1">
        <p:scale>
          <a:sx n="92" d="100"/>
          <a:sy n="92" d="100"/>
        </p:scale>
        <p:origin x="3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wel Flak" userId="86da2ce32ddfb578" providerId="LiveId" clId="{3ED02EFA-FEDB-41B1-BC0C-5575423D8E03}"/>
    <pc:docChg chg="custSel addSld delSld modSld addMainMaster delMainMaster">
      <pc:chgData name="Pawel Flak" userId="86da2ce32ddfb578" providerId="LiveId" clId="{3ED02EFA-FEDB-41B1-BC0C-5575423D8E03}" dt="2026-10-12T22:48:00.806" v="59"/>
      <pc:docMkLst>
        <pc:docMk/>
      </pc:docMkLst>
      <pc:sldChg chg="mod modClrScheme chgLayout">
        <pc:chgData name="Pawel Flak" userId="86da2ce32ddfb578" providerId="LiveId" clId="{3ED02EFA-FEDB-41B1-BC0C-5575423D8E03}" dt="2026-10-12T22:32:59.049" v="2"/>
        <pc:sldMkLst>
          <pc:docMk/>
          <pc:sldMk cId="144663358" sldId="437"/>
        </pc:sldMkLst>
      </pc:sldChg>
      <pc:sldChg chg="mod modClrScheme chgLayout">
        <pc:chgData name="Pawel Flak" userId="86da2ce32ddfb578" providerId="LiveId" clId="{3ED02EFA-FEDB-41B1-BC0C-5575423D8E03}" dt="2026-10-12T22:32:59.050" v="3"/>
        <pc:sldMkLst>
          <pc:docMk/>
          <pc:sldMk cId="1798690320" sldId="438"/>
        </pc:sldMkLst>
      </pc:sldChg>
      <pc:sldChg chg="del mod modClrScheme chgLayout">
        <pc:chgData name="Pawel Flak" userId="86da2ce32ddfb578" providerId="LiveId" clId="{3ED02EFA-FEDB-41B1-BC0C-5575423D8E03}" dt="2026-10-12T22:46:17.828" v="49"/>
        <pc:sldMkLst>
          <pc:docMk/>
          <pc:sldMk cId="3464769922" sldId="440"/>
        </pc:sldMkLst>
      </pc:sldChg>
      <pc:sldChg chg="mod modClrScheme chgLayout">
        <pc:chgData name="Pawel Flak" userId="86da2ce32ddfb578" providerId="LiveId" clId="{3ED02EFA-FEDB-41B1-BC0C-5575423D8E03}" dt="2026-10-12T22:32:59.051" v="5"/>
        <pc:sldMkLst>
          <pc:docMk/>
          <pc:sldMk cId="3862554724" sldId="441"/>
        </pc:sldMkLst>
      </pc:sldChg>
      <pc:sldChg chg="mod modClrScheme chgLayout">
        <pc:chgData name="Pawel Flak" userId="86da2ce32ddfb578" providerId="LiveId" clId="{3ED02EFA-FEDB-41B1-BC0C-5575423D8E03}" dt="2026-10-12T22:32:59.051" v="6"/>
        <pc:sldMkLst>
          <pc:docMk/>
          <pc:sldMk cId="2620970961" sldId="442"/>
        </pc:sldMkLst>
      </pc:sldChg>
      <pc:sldChg chg="mod modClrScheme chgLayout">
        <pc:chgData name="Pawel Flak" userId="86da2ce32ddfb578" providerId="LiveId" clId="{3ED02EFA-FEDB-41B1-BC0C-5575423D8E03}" dt="2026-10-12T22:32:59.051" v="7"/>
        <pc:sldMkLst>
          <pc:docMk/>
          <pc:sldMk cId="3126067762" sldId="443"/>
        </pc:sldMkLst>
      </pc:sldChg>
      <pc:sldChg chg="mod modClrScheme chgLayout">
        <pc:chgData name="Pawel Flak" userId="86da2ce32ddfb578" providerId="LiveId" clId="{3ED02EFA-FEDB-41B1-BC0C-5575423D8E03}" dt="2026-10-12T22:32:59.052" v="8"/>
        <pc:sldMkLst>
          <pc:docMk/>
          <pc:sldMk cId="254803198" sldId="444"/>
        </pc:sldMkLst>
      </pc:sldChg>
      <pc:sldChg chg="mod modClrScheme chgLayout">
        <pc:chgData name="Pawel Flak" userId="86da2ce32ddfb578" providerId="LiveId" clId="{3ED02EFA-FEDB-41B1-BC0C-5575423D8E03}" dt="2026-10-12T22:32:59.052" v="9"/>
        <pc:sldMkLst>
          <pc:docMk/>
          <pc:sldMk cId="3914607146" sldId="445"/>
        </pc:sldMkLst>
      </pc:sldChg>
      <pc:sldChg chg="delSp mod modClrScheme chgLayout">
        <pc:chgData name="Pawel Flak" userId="86da2ce32ddfb578" providerId="LiveId" clId="{3ED02EFA-FEDB-41B1-BC0C-5575423D8E03}" dt="2026-10-12T22:46:06.491" v="45"/>
        <pc:sldMkLst>
          <pc:docMk/>
          <pc:sldMk cId="2665947167" sldId="446"/>
        </pc:sldMkLst>
        <pc:spChg chg="del">
          <ac:chgData name="Pawel Flak" userId="86da2ce32ddfb578" providerId="LiveId" clId="{3ED02EFA-FEDB-41B1-BC0C-5575423D8E03}" dt="2026-10-12T22:46:06.491" v="45"/>
          <ac:spMkLst>
            <pc:docMk/>
            <pc:sldMk cId="2665947167" sldId="446"/>
            <ac:spMk id="24" creationId="{00000000-0000-0000-0000-000000000000}"/>
          </ac:spMkLst>
        </pc:spChg>
      </pc:sldChg>
      <pc:sldChg chg="mod modClrScheme chgLayout">
        <pc:chgData name="Pawel Flak" userId="86da2ce32ddfb578" providerId="LiveId" clId="{3ED02EFA-FEDB-41B1-BC0C-5575423D8E03}" dt="2026-10-12T22:32:59.052" v="11"/>
        <pc:sldMkLst>
          <pc:docMk/>
          <pc:sldMk cId="35711484" sldId="447"/>
        </pc:sldMkLst>
      </pc:sldChg>
      <pc:sldChg chg="mod modClrScheme chgLayout">
        <pc:chgData name="Pawel Flak" userId="86da2ce32ddfb578" providerId="LiveId" clId="{3ED02EFA-FEDB-41B1-BC0C-5575423D8E03}" dt="2026-10-12T22:32:59.052" v="12"/>
        <pc:sldMkLst>
          <pc:docMk/>
          <pc:sldMk cId="1618741193" sldId="448"/>
        </pc:sldMkLst>
      </pc:sldChg>
      <pc:sldChg chg="mod modClrScheme chgLayout">
        <pc:chgData name="Pawel Flak" userId="86da2ce32ddfb578" providerId="LiveId" clId="{3ED02EFA-FEDB-41B1-BC0C-5575423D8E03}" dt="2026-10-12T22:32:59.054" v="13"/>
        <pc:sldMkLst>
          <pc:docMk/>
          <pc:sldMk cId="2921381657" sldId="449"/>
        </pc:sldMkLst>
      </pc:sldChg>
      <pc:sldChg chg="mod modClrScheme chgLayout">
        <pc:chgData name="Pawel Flak" userId="86da2ce32ddfb578" providerId="LiveId" clId="{3ED02EFA-FEDB-41B1-BC0C-5575423D8E03}" dt="2026-10-12T22:32:59.054" v="14"/>
        <pc:sldMkLst>
          <pc:docMk/>
          <pc:sldMk cId="2058500557" sldId="450"/>
        </pc:sldMkLst>
      </pc:sldChg>
      <pc:sldChg chg="mod modClrScheme chgLayout">
        <pc:chgData name="Pawel Flak" userId="86da2ce32ddfb578" providerId="LiveId" clId="{3ED02EFA-FEDB-41B1-BC0C-5575423D8E03}" dt="2026-10-12T22:32:59.054" v="15"/>
        <pc:sldMkLst>
          <pc:docMk/>
          <pc:sldMk cId="384210003" sldId="451"/>
        </pc:sldMkLst>
      </pc:sldChg>
      <pc:sldChg chg="mod modClrScheme chgLayout">
        <pc:chgData name="Pawel Flak" userId="86da2ce32ddfb578" providerId="LiveId" clId="{3ED02EFA-FEDB-41B1-BC0C-5575423D8E03}" dt="2026-10-12T22:32:59.054" v="16"/>
        <pc:sldMkLst>
          <pc:docMk/>
          <pc:sldMk cId="2832655685" sldId="452"/>
        </pc:sldMkLst>
      </pc:sldChg>
      <pc:sldChg chg="mod modClrScheme chgLayout">
        <pc:chgData name="Pawel Flak" userId="86da2ce32ddfb578" providerId="LiveId" clId="{3ED02EFA-FEDB-41B1-BC0C-5575423D8E03}" dt="2026-10-12T22:32:59.054" v="17"/>
        <pc:sldMkLst>
          <pc:docMk/>
          <pc:sldMk cId="1714795884" sldId="453"/>
        </pc:sldMkLst>
      </pc:sldChg>
      <pc:sldChg chg="mod modClrScheme chgLayout">
        <pc:chgData name="Pawel Flak" userId="86da2ce32ddfb578" providerId="LiveId" clId="{3ED02EFA-FEDB-41B1-BC0C-5575423D8E03}" dt="2026-10-12T22:32:59.055" v="18"/>
        <pc:sldMkLst>
          <pc:docMk/>
          <pc:sldMk cId="1927900460" sldId="454"/>
        </pc:sldMkLst>
      </pc:sldChg>
      <pc:sldChg chg="mod modClrScheme chgLayout">
        <pc:chgData name="Pawel Flak" userId="86da2ce32ddfb578" providerId="LiveId" clId="{3ED02EFA-FEDB-41B1-BC0C-5575423D8E03}" dt="2026-10-12T22:32:59.055" v="19"/>
        <pc:sldMkLst>
          <pc:docMk/>
          <pc:sldMk cId="3760957963" sldId="455"/>
        </pc:sldMkLst>
      </pc:sldChg>
      <pc:sldChg chg="mod modClrScheme chgLayout">
        <pc:chgData name="Pawel Flak" userId="86da2ce32ddfb578" providerId="LiveId" clId="{3ED02EFA-FEDB-41B1-BC0C-5575423D8E03}" dt="2026-10-12T22:32:59.055" v="20"/>
        <pc:sldMkLst>
          <pc:docMk/>
          <pc:sldMk cId="4047552260" sldId="456"/>
        </pc:sldMkLst>
      </pc:sldChg>
      <pc:sldChg chg="mod modClrScheme chgLayout">
        <pc:chgData name="Pawel Flak" userId="86da2ce32ddfb578" providerId="LiveId" clId="{3ED02EFA-FEDB-41B1-BC0C-5575423D8E03}" dt="2026-10-12T22:32:59.056" v="21"/>
        <pc:sldMkLst>
          <pc:docMk/>
          <pc:sldMk cId="1091861761" sldId="457"/>
        </pc:sldMkLst>
      </pc:sldChg>
      <pc:sldChg chg="mod modClrScheme chgLayout">
        <pc:chgData name="Pawel Flak" userId="86da2ce32ddfb578" providerId="LiveId" clId="{3ED02EFA-FEDB-41B1-BC0C-5575423D8E03}" dt="2026-10-12T22:32:59.056" v="22"/>
        <pc:sldMkLst>
          <pc:docMk/>
          <pc:sldMk cId="262669075" sldId="458"/>
        </pc:sldMkLst>
      </pc:sldChg>
      <pc:sldChg chg="del mod modClrScheme chgLayout">
        <pc:chgData name="Pawel Flak" userId="86da2ce32ddfb578" providerId="LiveId" clId="{3ED02EFA-FEDB-41B1-BC0C-5575423D8E03}" dt="2026-10-12T22:48:00.806" v="59"/>
        <pc:sldMkLst>
          <pc:docMk/>
          <pc:sldMk cId="2357429180" sldId="459"/>
        </pc:sldMkLst>
      </pc:sldChg>
      <pc:sldChg chg="mod modClrScheme chgLayout">
        <pc:chgData name="Pawel Flak" userId="86da2ce32ddfb578" providerId="LiveId" clId="{3ED02EFA-FEDB-41B1-BC0C-5575423D8E03}" dt="2026-10-12T22:32:59.056" v="24"/>
        <pc:sldMkLst>
          <pc:docMk/>
          <pc:sldMk cId="1090420036" sldId="460"/>
        </pc:sldMkLst>
      </pc:sldChg>
      <pc:sldChg chg="del mod modClrScheme chgLayout">
        <pc:chgData name="Pawel Flak" userId="86da2ce32ddfb578" providerId="LiveId" clId="{3ED02EFA-FEDB-41B1-BC0C-5575423D8E03}" dt="2026-10-12T22:46:25.193" v="51"/>
        <pc:sldMkLst>
          <pc:docMk/>
          <pc:sldMk cId="1429842952" sldId="461"/>
        </pc:sldMkLst>
      </pc:sldChg>
      <pc:sldChg chg="del mod modClrScheme chgLayout">
        <pc:chgData name="Pawel Flak" userId="86da2ce32ddfb578" providerId="LiveId" clId="{3ED02EFA-FEDB-41B1-BC0C-5575423D8E03}" dt="2026-10-12T22:33:27.995" v="30"/>
        <pc:sldMkLst>
          <pc:docMk/>
          <pc:sldMk cId="924678471" sldId="462"/>
        </pc:sldMkLst>
      </pc:sldChg>
      <pc:sldChg chg="del">
        <pc:chgData name="Pawel Flak" userId="86da2ce32ddfb578" providerId="LiveId" clId="{3ED02EFA-FEDB-41B1-BC0C-5575423D8E03}" dt="2026-10-12T22:32:59.012" v="1"/>
        <pc:sldMkLst>
          <pc:docMk/>
          <pc:sldMk cId="3192050474" sldId="464"/>
        </pc:sldMkLst>
      </pc:sldChg>
      <pc:sldChg chg="modSp add del mod">
        <pc:chgData name="Pawel Flak" userId="86da2ce32ddfb578" providerId="LiveId" clId="{3ED02EFA-FEDB-41B1-BC0C-5575423D8E03}" dt="2026-10-12T22:46:10.317" v="47"/>
        <pc:sldMkLst>
          <pc:docMk/>
          <pc:sldMk cId="3238891582" sldId="465"/>
        </pc:sldMkLst>
        <pc:spChg chg="mod">
          <ac:chgData name="Pawel Flak" userId="86da2ce32ddfb578" providerId="LiveId" clId="{3ED02EFA-FEDB-41B1-BC0C-5575423D8E03}" dt="2026-10-12T22:33:48.202" v="37"/>
          <ac:spMkLst>
            <pc:docMk/>
            <pc:sldMk cId="3238891582" sldId="465"/>
            <ac:spMk id="25" creationId="{00000000-0000-0000-0000-000000000000}"/>
          </ac:spMkLst>
        </pc:spChg>
      </pc:sldChg>
      <pc:sldChg chg="modSp add del mod">
        <pc:chgData name="Pawel Flak" userId="86da2ce32ddfb578" providerId="LiveId" clId="{3ED02EFA-FEDB-41B1-BC0C-5575423D8E03}" dt="2026-10-12T22:35:43.064" v="39"/>
        <pc:sldMkLst>
          <pc:docMk/>
          <pc:sldMk cId="2244844207" sldId="466"/>
        </pc:sldMkLst>
        <pc:graphicFrameChg chg="modGraphic">
          <ac:chgData name="Pawel Flak" userId="86da2ce32ddfb578" providerId="LiveId" clId="{3ED02EFA-FEDB-41B1-BC0C-5575423D8E03}" dt="2026-10-12T22:33:28.117" v="35"/>
          <ac:graphicFrameMkLst>
            <pc:docMk/>
            <pc:sldMk cId="2244844207" sldId="466"/>
            <ac:graphicFrameMk id="30" creationId="{00000000-0000-0000-0000-000000000000}"/>
          </ac:graphicFrameMkLst>
        </pc:graphicFrameChg>
      </pc:sldChg>
      <pc:sldChg chg="new del">
        <pc:chgData name="Pawel Flak" userId="86da2ce32ddfb578" providerId="LiveId" clId="{3ED02EFA-FEDB-41B1-BC0C-5575423D8E03}" dt="2026-10-12T22:32:59.122" v="28"/>
        <pc:sldMkLst>
          <pc:docMk/>
          <pc:sldMk cId="3937465562" sldId="466"/>
        </pc:sldMkLst>
      </pc:sldChg>
      <pc:sldChg chg="modSp add del mod">
        <pc:chgData name="Pawel Flak" userId="86da2ce32ddfb578" providerId="LiveId" clId="{3ED02EFA-FEDB-41B1-BC0C-5575423D8E03}" dt="2026-10-12T22:46:32.168" v="53"/>
        <pc:sldMkLst>
          <pc:docMk/>
          <pc:sldMk cId="2955233200" sldId="467"/>
        </pc:sldMkLst>
        <pc:graphicFrameChg chg="modGraphic">
          <ac:chgData name="Pawel Flak" userId="86da2ce32ddfb578" providerId="LiveId" clId="{3ED02EFA-FEDB-41B1-BC0C-5575423D8E03}" dt="2026-10-12T22:35:44.962" v="44"/>
          <ac:graphicFrameMkLst>
            <pc:docMk/>
            <pc:sldMk cId="2955233200" sldId="467"/>
            <ac:graphicFrameMk id="30" creationId="{00000000-0000-0000-0000-000000000000}"/>
          </ac:graphicFrameMkLst>
        </pc:graphicFrameChg>
      </pc:sldChg>
      <pc:sldChg chg="add">
        <pc:chgData name="Pawel Flak" userId="86da2ce32ddfb578" providerId="LiveId" clId="{3ED02EFA-FEDB-41B1-BC0C-5575423D8E03}" dt="2026-10-12T22:46:10.317" v="46"/>
        <pc:sldMkLst>
          <pc:docMk/>
          <pc:sldMk cId="2679353707" sldId="468"/>
        </pc:sldMkLst>
      </pc:sldChg>
      <pc:sldChg chg="add">
        <pc:chgData name="Pawel Flak" userId="86da2ce32ddfb578" providerId="LiveId" clId="{3ED02EFA-FEDB-41B1-BC0C-5575423D8E03}" dt="2026-10-12T22:46:17.816" v="48"/>
        <pc:sldMkLst>
          <pc:docMk/>
          <pc:sldMk cId="2419146468" sldId="469"/>
        </pc:sldMkLst>
      </pc:sldChg>
      <pc:sldChg chg="add del">
        <pc:chgData name="Pawel Flak" userId="86da2ce32ddfb578" providerId="LiveId" clId="{3ED02EFA-FEDB-41B1-BC0C-5575423D8E03}" dt="2026-10-12T22:46:55.707" v="55"/>
        <pc:sldMkLst>
          <pc:docMk/>
          <pc:sldMk cId="170483560" sldId="470"/>
        </pc:sldMkLst>
      </pc:sldChg>
      <pc:sldChg chg="add del">
        <pc:chgData name="Pawel Flak" userId="86da2ce32ddfb578" providerId="LiveId" clId="{3ED02EFA-FEDB-41B1-BC0C-5575423D8E03}" dt="2026-10-12T22:47:18.435" v="57"/>
        <pc:sldMkLst>
          <pc:docMk/>
          <pc:sldMk cId="1544681136" sldId="471"/>
        </pc:sldMkLst>
      </pc:sldChg>
      <pc:sldChg chg="add">
        <pc:chgData name="Pawel Flak" userId="86da2ce32ddfb578" providerId="LiveId" clId="{3ED02EFA-FEDB-41B1-BC0C-5575423D8E03}" dt="2026-10-12T22:46:55.691" v="54"/>
        <pc:sldMkLst>
          <pc:docMk/>
          <pc:sldMk cId="1649508623" sldId="472"/>
        </pc:sldMkLst>
      </pc:sldChg>
      <pc:sldChg chg="add">
        <pc:chgData name="Pawel Flak" userId="86da2ce32ddfb578" providerId="LiveId" clId="{3ED02EFA-FEDB-41B1-BC0C-5575423D8E03}" dt="2026-10-12T22:47:18.421" v="56"/>
        <pc:sldMkLst>
          <pc:docMk/>
          <pc:sldMk cId="4180496507" sldId="473"/>
        </pc:sldMkLst>
      </pc:sldChg>
      <pc:sldChg chg="add">
        <pc:chgData name="Pawel Flak" userId="86da2ce32ddfb578" providerId="LiveId" clId="{3ED02EFA-FEDB-41B1-BC0C-5575423D8E03}" dt="2026-10-12T22:48:00.801" v="58"/>
        <pc:sldMkLst>
          <pc:docMk/>
          <pc:sldMk cId="4090726409" sldId="474"/>
        </pc:sldMkLst>
      </pc:sldChg>
      <pc:sldMasterChg chg="del delSldLayout">
        <pc:chgData name="Pawel Flak" userId="86da2ce32ddfb578" providerId="LiveId" clId="{3ED02EFA-FEDB-41B1-BC0C-5575423D8E03}" dt="2026-10-12T22:32:59.122" v="28"/>
        <pc:sldMasterMkLst>
          <pc:docMk/>
          <pc:sldMasterMk cId="0" sldId="2147483655"/>
        </pc:sldMasterMkLst>
        <pc:sldLayoutChg chg="del">
          <pc:chgData name="Pawel Flak" userId="86da2ce32ddfb578" providerId="LiveId" clId="{3ED02EFA-FEDB-41B1-BC0C-5575423D8E03}" dt="2026-10-12T22:32:59.122" v="28"/>
          <pc:sldLayoutMkLst>
            <pc:docMk/>
            <pc:sldMasterMk cId="0" sldId="2147483655"/>
            <pc:sldLayoutMk cId="0" sldId="2147483656"/>
          </pc:sldLayoutMkLst>
        </pc:sldLayoutChg>
        <pc:sldLayoutChg chg="del">
          <pc:chgData name="Pawel Flak" userId="86da2ce32ddfb578" providerId="LiveId" clId="{3ED02EFA-FEDB-41B1-BC0C-5575423D8E03}" dt="2026-10-12T22:32:59.122" v="28"/>
          <pc:sldLayoutMkLst>
            <pc:docMk/>
            <pc:sldMasterMk cId="0" sldId="2147483655"/>
            <pc:sldLayoutMk cId="0" sldId="2147483657"/>
          </pc:sldLayoutMkLst>
        </pc:sldLayoutChg>
        <pc:sldLayoutChg chg="del">
          <pc:chgData name="Pawel Flak" userId="86da2ce32ddfb578" providerId="LiveId" clId="{3ED02EFA-FEDB-41B1-BC0C-5575423D8E03}" dt="2026-10-12T22:32:59.122" v="28"/>
          <pc:sldLayoutMkLst>
            <pc:docMk/>
            <pc:sldMasterMk cId="0" sldId="2147483655"/>
            <pc:sldLayoutMk cId="0" sldId="2147483658"/>
          </pc:sldLayoutMkLst>
        </pc:sldLayoutChg>
        <pc:sldLayoutChg chg="del">
          <pc:chgData name="Pawel Flak" userId="86da2ce32ddfb578" providerId="LiveId" clId="{3ED02EFA-FEDB-41B1-BC0C-5575423D8E03}" dt="2026-10-12T22:32:59.122" v="28"/>
          <pc:sldLayoutMkLst>
            <pc:docMk/>
            <pc:sldMasterMk cId="0" sldId="2147483655"/>
            <pc:sldLayoutMk cId="0" sldId="2147483659"/>
          </pc:sldLayoutMkLst>
        </pc:sldLayoutChg>
        <pc:sldLayoutChg chg="del">
          <pc:chgData name="Pawel Flak" userId="86da2ce32ddfb578" providerId="LiveId" clId="{3ED02EFA-FEDB-41B1-BC0C-5575423D8E03}" dt="2026-10-12T22:32:59.122" v="28"/>
          <pc:sldLayoutMkLst>
            <pc:docMk/>
            <pc:sldMasterMk cId="0" sldId="2147483655"/>
            <pc:sldLayoutMk cId="0" sldId="2147483660"/>
          </pc:sldLayoutMkLst>
        </pc:sldLayoutChg>
        <pc:sldLayoutChg chg="del">
          <pc:chgData name="Pawel Flak" userId="86da2ce32ddfb578" providerId="LiveId" clId="{3ED02EFA-FEDB-41B1-BC0C-5575423D8E03}" dt="2026-10-12T22:32:59.122" v="28"/>
          <pc:sldLayoutMkLst>
            <pc:docMk/>
            <pc:sldMasterMk cId="0" sldId="2147483655"/>
            <pc:sldLayoutMk cId="0" sldId="2147483661"/>
          </pc:sldLayoutMkLst>
        </pc:sldLayoutChg>
      </pc:sldMasterChg>
      <pc:sldMasterChg chg="add addSldLayout">
        <pc:chgData name="Pawel Flak" userId="86da2ce32ddfb578" providerId="LiveId" clId="{3ED02EFA-FEDB-41B1-BC0C-5575423D8E03}" dt="2026-10-12T22:32:59.007" v="0"/>
        <pc:sldMasterMkLst>
          <pc:docMk/>
          <pc:sldMasterMk cId="0" sldId="2147483662"/>
        </pc:sldMasterMkLst>
        <pc:sldLayoutChg chg="add">
          <pc:chgData name="Pawel Flak" userId="86da2ce32ddfb578" providerId="LiveId" clId="{3ED02EFA-FEDB-41B1-BC0C-5575423D8E03}" dt="2026-10-12T22:32:59.007" v="0"/>
          <pc:sldLayoutMkLst>
            <pc:docMk/>
            <pc:sldMasterMk cId="0" sldId="2147483662"/>
            <pc:sldLayoutMk cId="0" sldId="2147483663"/>
          </pc:sldLayoutMkLst>
        </pc:sldLayoutChg>
        <pc:sldLayoutChg chg="add">
          <pc:chgData name="Pawel Flak" userId="86da2ce32ddfb578" providerId="LiveId" clId="{3ED02EFA-FEDB-41B1-BC0C-5575423D8E03}" dt="2026-10-12T22:32:59.007" v="0"/>
          <pc:sldLayoutMkLst>
            <pc:docMk/>
            <pc:sldMasterMk cId="0" sldId="2147483662"/>
            <pc:sldLayoutMk cId="0" sldId="2147483664"/>
          </pc:sldLayoutMkLst>
        </pc:sldLayoutChg>
        <pc:sldLayoutChg chg="add">
          <pc:chgData name="Pawel Flak" userId="86da2ce32ddfb578" providerId="LiveId" clId="{3ED02EFA-FEDB-41B1-BC0C-5575423D8E03}" dt="2026-10-12T22:32:59.007" v="0"/>
          <pc:sldLayoutMkLst>
            <pc:docMk/>
            <pc:sldMasterMk cId="0" sldId="2147483662"/>
            <pc:sldLayoutMk cId="0" sldId="2147483665"/>
          </pc:sldLayoutMkLst>
        </pc:sldLayoutChg>
        <pc:sldLayoutChg chg="add">
          <pc:chgData name="Pawel Flak" userId="86da2ce32ddfb578" providerId="LiveId" clId="{3ED02EFA-FEDB-41B1-BC0C-5575423D8E03}" dt="2026-10-12T22:32:59.007" v="0"/>
          <pc:sldLayoutMkLst>
            <pc:docMk/>
            <pc:sldMasterMk cId="0" sldId="2147483662"/>
            <pc:sldLayoutMk cId="0" sldId="2147483666"/>
          </pc:sldLayoutMkLst>
        </pc:sldLayoutChg>
        <pc:sldLayoutChg chg="add">
          <pc:chgData name="Pawel Flak" userId="86da2ce32ddfb578" providerId="LiveId" clId="{3ED02EFA-FEDB-41B1-BC0C-5575423D8E03}" dt="2026-10-12T22:32:59.007" v="0"/>
          <pc:sldLayoutMkLst>
            <pc:docMk/>
            <pc:sldMasterMk cId="0" sldId="2147483662"/>
            <pc:sldLayoutMk cId="0" sldId="2147483667"/>
          </pc:sldLayoutMkLst>
        </pc:sldLayoutChg>
        <pc:sldLayoutChg chg="add">
          <pc:chgData name="Pawel Flak" userId="86da2ce32ddfb578" providerId="LiveId" clId="{3ED02EFA-FEDB-41B1-BC0C-5575423D8E03}" dt="2026-10-12T22:32:59.007" v="0"/>
          <pc:sldLayoutMkLst>
            <pc:docMk/>
            <pc:sldMasterMk cId="0" sldId="2147483662"/>
            <pc:sldLayoutMk cId="0" sldId="214748366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by Ayoub Hamdoun.</a:t>
            </a:r>
          </a:p>
          <a:p>
            <a:r>
              <a:rPr lang="en-US" dirty="0"/>
              <a:t>Goal: detect visual anomalies in product images with a convolutional autoencoder (CAE).</a:t>
            </a:r>
          </a:p>
          <a:p>
            <a:r>
              <a:rPr lang="en-US" dirty="0"/>
              <a:t>The CAE is trained on normal images only.</a:t>
            </a:r>
          </a:p>
          <a:p>
            <a:r>
              <a:rPr lang="en-US" dirty="0"/>
              <a:t>Score s(x) is the reconstruction error; s(x) &gt; τ means anomaly.</a:t>
            </a:r>
          </a:p>
          <a:p>
            <a:r>
              <a:rPr lang="en-US" dirty="0"/>
              <a:t>One MLOps workflow serves three categories: Bottle, Wood, Pill.</a:t>
            </a:r>
          </a:p>
          <a:p>
            <a:r>
              <a:rPr lang="en-US" dirty="0"/>
              <a:t>Each category has its own model and threshold.</a:t>
            </a:r>
          </a:p>
          <a:p>
            <a:r>
              <a:rPr lang="en-US" dirty="0"/>
              <a:t>The three production use cases illustrate potential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Order: Ayoub → Mohamed → Paweł.</a:t>
            </a:r>
          </a:p>
          <a:p>
            <a:r>
              <a:rPr lang="en-US" dirty="0"/>
              <a:t>Ayoub: contributions, architecture, problem, CAE, data batches, training, evaluation.</a:t>
            </a:r>
          </a:p>
          <a:p>
            <a:r>
              <a:rPr lang="en-US" dirty="0"/>
              <a:t>Mohamed: Docker Compose, PostgreSQL, batch release, Airflow, FastAPI and inference.</a:t>
            </a:r>
          </a:p>
          <a:p>
            <a:r>
              <a:rPr lang="en-US" dirty="0"/>
              <a:t>Paweł: MLflow champion, Streamlit and Spotlight, Evidently, Prometheus and Grafana, assessment,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Contributions are taken from the GitHub history.</a:t>
            </a:r>
          </a:p>
          <a:p>
            <a:r>
              <a:rPr lang="en-US" dirty="0"/>
              <a:t>Ayoub: CAE model, training, MLflow tracking, batch automation.</a:t>
            </a:r>
          </a:p>
          <a:p>
            <a:r>
              <a:rPr lang="en-US" dirty="0"/>
              <a:t>Mohamed: project structure, database, API, Docker and Airflow scheduling.</a:t>
            </a:r>
          </a:p>
          <a:p>
            <a:r>
              <a:rPr lang="en-US" dirty="0"/>
              <a:t>Paweł: MLflow Registry, monitoring, Streamlit and Spotlight, dataset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example cases: bottling, tablet manufacturing, wood processing.</a:t>
            </a:r>
          </a:p>
          <a:p>
            <a:r>
              <a:rPr lang="en-US" dirty="0"/>
              <a:t>Shared requirement: detect visual defects before the next process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case uses a fixed camera at a defined inspection point.</a:t>
            </a:r>
          </a:p>
          <a:p>
            <a:r>
              <a:rPr lang="en-US" dirty="0"/>
              <a:t>Fixed framing and lighting keep images comparable with the training data.</a:t>
            </a:r>
          </a:p>
          <a:p>
            <a:r>
              <a:rPr lang="en-US" dirty="0"/>
              <a:t>The model output is an inspection signal, not an automatic line stop.</a:t>
            </a:r>
          </a:p>
          <a:p>
            <a:r>
              <a:rPr lang="en-US" dirty="0"/>
              <a:t>Direct camera integration (RTSP/PLC) is outside the current project scope.</a:t>
            </a:r>
          </a:p>
          <a:p>
            <a:r>
              <a:rPr lang="en-US" dirty="0"/>
              <a:t>An adapter would save images and call the prediction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components: PostgreSQL, Airflow, FastAPI, TensorFlow, MLflow, Prediction, Streamlit.</a:t>
            </a:r>
          </a:p>
          <a:p>
            <a:r>
              <a:rPr lang="en-US" dirty="0"/>
              <a:t>FastAPI is the central HTTP interface between services.</a:t>
            </a:r>
          </a:p>
          <a:p>
            <a:r>
              <a:rPr lang="en-US" dirty="0"/>
              <a:t>Training path: TensorFlow → MLflow run → champion.</a:t>
            </a:r>
          </a:p>
          <a:p>
            <a:r>
              <a:rPr lang="en-US" dirty="0"/>
              <a:t>Serving path: Streamlit → Prediction → champion inference.</a:t>
            </a:r>
          </a:p>
          <a:p>
            <a:r>
              <a:rPr lang="en-US" dirty="0"/>
              <a:t>Data monitoring: prediction logs → Evidently / PostgreSQL → Grafana.</a:t>
            </a:r>
          </a:p>
          <a:p>
            <a:r>
              <a:rPr lang="en-US" dirty="0"/>
              <a:t>Performance monitoring: FastAPI → Prometheus → Grafana.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Data: MVTec AD, categories Bottle, Wood, Pill.</a:t>
            </a:r>
          </a:p>
          <a:p>
            <a:r>
              <a:rPr lang="en-US" dirty="0"/>
              <a:t>Training uses normal images only; the test set contains normal and defective images.</a:t>
            </a:r>
          </a:p>
          <a:p>
            <a:r>
              <a:rPr lang="en-US" dirty="0"/>
              <a:t>Input: 128×128×3 RGB.</a:t>
            </a:r>
          </a:p>
          <a:p>
            <a:r>
              <a:rPr lang="en-US" dirty="0"/>
              <a:t>Encoder: Conv 32/64 and Conv 128/256, each with pooling ×2.</a:t>
            </a:r>
          </a:p>
          <a:p>
            <a:r>
              <a:rPr lang="en-US" dirty="0"/>
              <a:t>Latent representation: 8×8×256.</a:t>
            </a:r>
          </a:p>
          <a:p>
            <a:r>
              <a:rPr lang="en-US" dirty="0"/>
              <a:t>Decoder: transposed convolutions and upsampling, sigmoid output 128×128×3.</a:t>
            </a:r>
          </a:p>
          <a:p>
            <a:r>
              <a:rPr lang="en-US" dirty="0"/>
              <a:t>Loss: 0.7 × MSE + 0.3 × (1 − SSIM).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20% of normal images form the fixed test set.</a:t>
            </a:r>
          </a:p>
          <a:p>
            <a:r>
              <a:rPr lang="en-US" dirty="0"/>
              <a:t>The remaining normal images are split into three batches.</a:t>
            </a:r>
          </a:p>
          <a:p>
            <a:r>
              <a:rPr lang="en-US" dirty="0"/>
              <a:t>Runs 1–3 train cumulatively on batches 1, 1+2 and 1+2+3.</a:t>
            </a:r>
          </a:p>
          <a:p>
            <a:r>
              <a:rPr lang="en-US" dirty="0"/>
              <a:t>Defective images appear only in the test set.</a:t>
            </a:r>
          </a:p>
          <a:p>
            <a:r>
              <a:rPr lang="en-US" dirty="0"/>
              <a:t>Hourly DAG: release-next, then POST /training for Bottle, Wood, Pill.</a:t>
            </a:r>
          </a:p>
          <a:p>
            <a:r>
              <a:rPr lang="en-US" dirty="0"/>
              <a:t>Image counts come from the repository README.</a:t>
            </a:r>
          </a:p>
          <a:p>
            <a:r>
              <a:rPr lang="en-US" dirty="0"/>
              <a:t>DAG implementation details follow on slide 14 (Mohamed).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Input: all currently available normal images.</a:t>
            </a:r>
          </a:p>
          <a:p>
            <a:r>
              <a:rPr lang="en-US" dirty="0"/>
              <a:t>Split: 80% training, 20% validation.</a:t>
            </a:r>
          </a:p>
          <a:p>
            <a:r>
              <a:rPr lang="en-US" dirty="0"/>
              <a:t>Threshold τ: 95th percentile of normal-image scores.</a:t>
            </a:r>
          </a:p>
          <a:p>
            <a:r>
              <a:rPr lang="en-US" dirty="0"/>
              <a:t>ReduceLROnPlateau lowers the learning rate when validation loss stalls.</a:t>
            </a:r>
          </a:p>
          <a:p>
            <a:r>
              <a:rPr lang="en-US" dirty="0"/>
              <a:t>MLflow logs parameters, losses, test AUROC and F1.</a:t>
            </a:r>
          </a:p>
          <a:p>
            <a:r>
              <a:rPr lang="en-US" dirty="0"/>
              <a:t>Provenance: git_commit and SHA-256 dataset_version.</a:t>
            </a:r>
          </a:p>
          <a:p>
            <a:r>
              <a:rPr lang="en-US" dirty="0"/>
              <a:t>Artifacts: evaluation.json, cae.keras, threshold.json, image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come from the saved evaluation reports (evaluation.json).</a:t>
            </a:r>
          </a:p>
          <a:p>
            <a:r>
              <a:rPr lang="en-US" dirty="0"/>
              <a:t>Wood: highest AUROC (0.887), F1 0.945.</a:t>
            </a:r>
          </a:p>
          <a:p>
            <a:r>
              <a:rPr lang="en-US" dirty="0"/>
              <a:t>Pill: AUROC 0.272 but F1 0.895; TN 1 and FP 17 mean almost every normal image is flagged.</a:t>
            </a:r>
          </a:p>
          <a:p>
            <a:r>
              <a:rPr lang="en-US" dirty="0"/>
              <a:t>Bottle: TN 0, so every normal test image is flagged.</a:t>
            </a:r>
          </a:p>
          <a:p>
            <a:r>
              <a:rPr lang="en-US" dirty="0"/>
              <a:t>Bottle uses holdout_metrics; Wood and Pill use calibrated_holdout.</a:t>
            </a:r>
          </a:p>
          <a:p>
            <a:r>
              <a:rPr lang="en-US" dirty="0"/>
              <a:t>Results are not directly comparable final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up -d builds and starts all containers.</a:t>
            </a:r>
          </a:p>
          <a:p>
            <a:r>
              <a:rPr lang="en-US" dirty="0"/>
              <a:t>Seven services: FastAPI 8000, Airflow 8081, PostgreSQL 5432, Grafana 3000, Streamlit 8501, MLflow 5001, Prometheus 9090.</a:t>
            </a:r>
          </a:p>
          <a:p>
            <a:r>
              <a:rPr lang="en-US" dirty="0"/>
              <a:t>Services reach each other by internal names (api, postgres, mlflow).</a:t>
            </a:r>
          </a:p>
          <a:p>
            <a:r>
              <a:rPr lang="en-US" dirty="0"/>
              <a:t>Volumes persist database and experiment data.</a:t>
            </a:r>
          </a:p>
          <a:p>
            <a:r>
              <a:rPr lang="en-US" dirty="0"/>
              <a:t>TensorFlow and Evidently run as libraries in the code, not as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stores image paths, labels and availability flags, not pixels.</a:t>
            </a:r>
          </a:p>
          <a:p>
            <a:r>
              <a:rPr lang="en-US" dirty="0"/>
              <a:t>Key fields: category, image_path, split, batch_id, is_anomaly, is_available, released_at.</a:t>
            </a:r>
          </a:p>
          <a:p>
            <a:r>
              <a:rPr lang="en-US" dirty="0"/>
              <a:t>FastAPI uses it to release batches and report their status.</a:t>
            </a:r>
          </a:p>
          <a:p>
            <a:r>
              <a:rPr lang="en-US" dirty="0"/>
              <a:t>Training queries eligible image paths.</a:t>
            </a:r>
          </a:p>
          <a:p>
            <a:r>
              <a:rPr lang="en-US" dirty="0"/>
              <a:t>Monitoring stores predictions and drift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Airflow calls POST /batches/release-next.</a:t>
            </a:r>
          </a:p>
          <a:p>
            <a:r>
              <a:rPr lang="en-US" dirty="0"/>
              <a:t>The API sets is_available = TRUE for the next locked batch.</a:t>
            </a:r>
          </a:p>
          <a:p>
            <a:r>
              <a:rPr lang="en-US" dirty="0"/>
              <a:t>Response: JSON with batch ID and image count.</a:t>
            </a:r>
          </a:p>
          <a:p>
            <a:r>
              <a:rPr lang="en-US" dirty="0"/>
              <a:t>After three releases no batch remains; the run is skipped.</a:t>
            </a:r>
          </a:p>
          <a:p>
            <a:r>
              <a:rPr lang="en-US" dirty="0"/>
              <a:t>Retraining happens only when new data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DAG: anomaly_detection_incremental_training.</a:t>
            </a:r>
          </a:p>
          <a:p>
            <a:r>
              <a:rPr lang="en-US" dirty="0"/>
              <a:t>Tasks: release_next_batch → train_bottle → train_wood → train_pill.</a:t>
            </a:r>
          </a:p>
          <a:p>
            <a:r>
              <a:rPr lang="en-US" dirty="0"/>
              <a:t>Schedule @hourly, catchup=False.</a:t>
            </a:r>
          </a:p>
          <a:p>
            <a:r>
              <a:rPr lang="en-US" dirty="0"/>
              <a:t>max_active_runs=1 prevents overlapping runs.</a:t>
            </a:r>
          </a:p>
          <a:p>
            <a:r>
              <a:rPr lang="en-US" dirty="0"/>
              <a:t>No new batch raises AirflowSkipException; training is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Callers: Airflow (automation), Streamlit and other clients.</a:t>
            </a:r>
          </a:p>
          <a:p>
            <a:r>
              <a:rPr lang="en-US" dirty="0"/>
              <a:t>FastAPI validates requests, calls Python functions and PostgreSQL, returns JSON.</a:t>
            </a:r>
          </a:p>
          <a:p>
            <a:r>
              <a:rPr lang="en-US" dirty="0"/>
              <a:t>POST /training starts a CAE training run.</a:t>
            </a:r>
          </a:p>
          <a:p>
            <a:r>
              <a:rPr lang="en-US" dirty="0"/>
              <a:t>POST /predict and /predict/upload score a file path or an uploaded image.</a:t>
            </a:r>
          </a:p>
          <a:p>
            <a:r>
              <a:rPr lang="en-US" dirty="0"/>
              <a:t>GET /batches/status and POST /batches/release-next manage data batches.</a:t>
            </a:r>
          </a:p>
          <a:p>
            <a:r>
              <a:rPr lang="en-US" dirty="0"/>
              <a:t>POST /monitoring/drift creates a drift report.</a:t>
            </a:r>
          </a:p>
          <a:p>
            <a:r>
              <a:rPr lang="en-US" dirty="0"/>
              <a:t>GET /metrics and /health/db expose service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load_champion() fetches the current champion from the MLflow Registry.</a:t>
            </a:r>
          </a:p>
          <a:p>
            <a:r>
              <a:rPr lang="en-US" dirty="0"/>
              <a:t>Models are cached per category and reloaded when the champion changes.</a:t>
            </a:r>
          </a:p>
          <a:p>
            <a:r>
              <a:rPr lang="en-US" dirty="0"/>
              <a:t>Images are normalized to 128 × 128.</a:t>
            </a:r>
          </a:p>
          <a:p>
            <a:r>
              <a:rPr lang="en-US" dirty="0"/>
              <a:t>Decision rule: s(x) ≤ τ normal, s(x) &gt; τ anomaly.</a:t>
            </a:r>
          </a:p>
          <a:p>
            <a:r>
              <a:rPr lang="en-US" dirty="0"/>
              <a:t>Response: decision, score, threshold, model name and version.</a:t>
            </a:r>
          </a:p>
          <a:p>
            <a:r>
              <a:rPr lang="en-US" dirty="0"/>
              <a:t>The score is a deviation measure, not a defect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new model version becomes a candidate with its test_auroc.</a:t>
            </a:r>
          </a:p>
          <a:p>
            <a:r>
              <a:rPr lang="en-US" dirty="0"/>
              <a:t>The first registered model becomes champion.</a:t>
            </a:r>
          </a:p>
          <a:p>
            <a:r>
              <a:rPr lang="en-US" dirty="0"/>
              <a:t>The champion alias moves only if AUROC is strictly higher; a tie keeps the current champion.</a:t>
            </a:r>
          </a:p>
          <a:p>
            <a:r>
              <a:rPr lang="en-US" dirty="0"/>
              <a:t>Registries: cae-bottle, cae-wood, cae-pill.</a:t>
            </a:r>
          </a:p>
          <a:p>
            <a:r>
              <a:rPr lang="en-US" dirty="0"/>
              <a:t>Model and category threshold are stored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selects a category and a sample image, or uploads a file.</a:t>
            </a:r>
          </a:p>
          <a:p>
            <a:r>
              <a:rPr lang="en-US" dirty="0"/>
              <a:t>Streamlit calls FastAPI at http://api:8000.</a:t>
            </a:r>
          </a:p>
          <a:p>
            <a:r>
              <a:rPr lang="en-US" dirty="0"/>
              <a:t>Output: anomaly score, threshold, decision, model version, history.</a:t>
            </a:r>
          </a:p>
          <a:p>
            <a:r>
              <a:rPr lang="en-US" dirty="0"/>
              <a:t>The app also shows API and database health, and ground truth where available.</a:t>
            </a:r>
          </a:p>
          <a:p>
            <a:r>
              <a:rPr lang="en-US" dirty="0"/>
              <a:t>The image on the slide is an MVTec AD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Spotlight is a guided UI tour built with JavaScript and CSS.</a:t>
            </a:r>
          </a:p>
          <a:p>
            <a:r>
              <a:rPr lang="en-US" dirty="0"/>
              <a:t>Each step explains function, system role, implementation and decision rationale.</a:t>
            </a:r>
          </a:p>
          <a:p>
            <a:r>
              <a:rPr lang="en-US" dirty="0"/>
              <a:t>spotlight.py defines the tour content and steps.</a:t>
            </a:r>
          </a:p>
          <a:p>
            <a:r>
              <a:rPr lang="en-US" dirty="0"/>
              <a:t>Spotlight does not train models or change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Reference: training images; current data: predictions from the last 24 h.</a:t>
            </a:r>
          </a:p>
          <a:p>
            <a:r>
              <a:rPr lang="en-US" dirty="0"/>
              <a:t>Four features: brightness, contrast, Laplacian sharpness, saturation.</a:t>
            </a:r>
          </a:p>
          <a:p>
            <a:r>
              <a:rPr lang="en-US" dirty="0"/>
              <a:t>A separate hourly DAG calls POST /monitoring/drift per category.</a:t>
            </a:r>
          </a:p>
          <a:p>
            <a:r>
              <a:rPr lang="en-US" dirty="0"/>
              <a:t>At least 10 recent predictions are required.</a:t>
            </a:r>
          </a:p>
          <a:p>
            <a:r>
              <a:rPr lang="en-US" dirty="0"/>
              <a:t>Output: feature-level drift, drifted feature share, report in PostgreSQL.</a:t>
            </a:r>
          </a:p>
          <a:p>
            <a:r>
              <a:rPr lang="en-US" dirty="0"/>
              <a:t>Drift does not trigger retraining automatically.</a:t>
            </a:r>
          </a:p>
          <a:p>
            <a:r>
              <a:rPr lang="en-US" dirty="0"/>
              <a:t>Input drift does not necessarily mean worse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scrapes FastAPI /metrics every 15 seconds.</a:t>
            </a:r>
          </a:p>
          <a:p>
            <a:r>
              <a:rPr lang="en-US" dirty="0"/>
              <a:t>Signals: latency and HTTP status per endpoint, concurrent requests, CPU, memory.</a:t>
            </a:r>
          </a:p>
          <a:p>
            <a:r>
              <a:rPr lang="en-US" dirty="0"/>
              <a:t>Alert: API unavailable for more than 1 min.</a:t>
            </a:r>
          </a:p>
          <a:p>
            <a:r>
              <a:rPr lang="en-US" dirty="0"/>
              <a:t>Alert: HTTP 5xx ratio above 5%.</a:t>
            </a:r>
          </a:p>
          <a:p>
            <a:r>
              <a:rPr lang="en-US" dirty="0"/>
              <a:t>Alert: prediction p95 latency above 2 s.</a:t>
            </a:r>
          </a:p>
          <a:p>
            <a:r>
              <a:rPr lang="en-US" dirty="0"/>
              <a:t>These metrics are independent of model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Grafana uses provisioned data sources and dashboards.</a:t>
            </a:r>
          </a:p>
          <a:p>
            <a:r>
              <a:rPr lang="en-US" dirty="0"/>
              <a:t>API Health dashboard: latency, errors and resource use from Prometheus.</a:t>
            </a:r>
          </a:p>
          <a:p>
            <a:r>
              <a:rPr lang="en-US" dirty="0"/>
              <a:t>Data Drift dashboard: drift reports, image features and trends from PostgreSQL.</a:t>
            </a:r>
          </a:p>
          <a:p>
            <a:r>
              <a:rPr lang="en-US" dirty="0"/>
              <a:t>Evidently writes to PostgreSQL, not to Prometheus.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Strength: end-to-end flow from data release to monitoring.</a:t>
            </a:r>
          </a:p>
          <a:p>
            <a:r>
              <a:rPr lang="en-US" dirty="0"/>
              <a:t>Strength: model versioning with automated champion selection.</a:t>
            </a:r>
          </a:p>
          <a:p>
            <a:r>
              <a:rPr lang="en-US" dirty="0"/>
              <a:t>Risk: selecting the champion on test AUROC can overfit the test set over time.</a:t>
            </a:r>
          </a:p>
          <a:p>
            <a:r>
              <a:rPr lang="en-US" dirty="0"/>
              <a:t>Report formats and thresholding logic are not fully uniform.</a:t>
            </a:r>
          </a:p>
          <a:p>
            <a:r>
              <a:rPr lang="en-US" dirty="0"/>
              <a:t>Low Pill AUROC needs further diagnosis.</a:t>
            </a:r>
          </a:p>
          <a:p>
            <a:r>
              <a:rPr lang="en-US" dirty="0"/>
              <a:t>DVC and CI/CD are planned, not implemented.</a:t>
            </a:r>
          </a:p>
          <a:p>
            <a:r>
              <a:rPr lang="en-US" dirty="0"/>
              <a:t>Recommendation: select on a validation set and keep one untouched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services: docker compose up -d.</a:t>
            </a:r>
          </a:p>
          <a:p>
            <a:r>
              <a:rPr lang="en-US" dirty="0"/>
              <a:t>Release the next batch and run Airflow training (localhost:8081).</a:t>
            </a:r>
          </a:p>
          <a:p>
            <a:r>
              <a:rPr lang="en-US" dirty="0"/>
              <a:t>Check the new run and champion in MLflow (localhost:5001).</a:t>
            </a:r>
          </a:p>
          <a:p>
            <a:r>
              <a:rPr lang="en-US" dirty="0"/>
              <a:t>Score an image in Streamlit (localhost:8501); show score and model version.</a:t>
            </a:r>
          </a:p>
          <a:p>
            <a:r>
              <a:rPr lang="en-US" dirty="0"/>
              <a:t>Open Grafana dashboards (localhost:3000).</a:t>
            </a:r>
          </a:p>
          <a:p>
            <a:r>
              <a:rPr lang="en-US" dirty="0"/>
              <a:t>Repository: mbrmpro/mlops_anomaly_detection.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shared workflow; separate model and threshold per product.</a:t>
            </a:r>
          </a:p>
          <a:p>
            <a:r>
              <a:rPr lang="en-US" dirty="0"/>
              <a:t>Automation: new data trigger reproducible retraining.</a:t>
            </a:r>
          </a:p>
          <a:p>
            <a:r>
              <a:rPr lang="en-US" dirty="0"/>
              <a:t>Traceability: every response names the model version.</a:t>
            </a:r>
          </a:p>
          <a:p>
            <a:r>
              <a:rPr lang="en-US" dirty="0"/>
              <a:t>Observability: dashboards show service health and data drift.</a:t>
            </a:r>
          </a:p>
          <a:p>
            <a:r>
              <a:rPr lang="en-US" dirty="0"/>
              <a:t>Next steps: camera adapter, separate holdout validation, cost of false alarms and missed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Authors: Ayoub Hamdoun, Mohamed Bouraaman, Paweł Flak; mentor: Nicolas Fradin.</a:t>
            </a:r>
          </a:p>
          <a:p>
            <a:r>
              <a:rPr lang="en-US" dirty="0"/>
              <a:t>GitHub repository: mbrmpro/mlops_anomaly_detection.</a:t>
            </a:r>
          </a:p>
          <a:p>
            <a:r>
              <a:rPr lang="en-US" dirty="0"/>
              <a:t>Product photos: MVTec AD, CC BY-NC-SA 4.0.</a:t>
            </a:r>
          </a:p>
          <a:p>
            <a:r>
              <a:rPr lang="en-US" dirty="0"/>
              <a:t>Use-case illustrations (slides 04, 05, 25): generated with OpenAI GPT-6 Astra.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7859BFA-4C0C-45DD-823C-9B378E5B7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B51EDD5-378C-4126-8A6B-7A59F1CCC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706523F-CD4E-4334-9EB2-FEFB9E8C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192C266-6ECA-40EA-B8FA-28E73EDF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CCB5C01-EEC9-465B-B682-6294FB871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4EBEB2-BC50-49E9-8BE8-4D1E5A9E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64C2110-5511-4F4D-B7F5-7030D65A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FB09C51-94DB-4D02-98FF-7E152F043B0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6987B2-74AB-4914-97A9-C11B25A12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CAEF418-6B82-4854-921E-DF8752009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BFBCF54-3409-4541-9CA9-5E9D33E2E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FCE475-99C8-4945-A818-438F3283E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C80050-5C8B-44AF-AE23-CF9B009A4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90200" y="114300"/>
            <a:ext cx="1219200" cy="38873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31F7936D-66BF-4616-B99E-4D968853937A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5" name="CERTIFICATION EXAM  /  MLOPS">
            <a:extLst>
              <a:ext uri="{FF2B5EF4-FFF2-40B4-BE49-F238E27FC236}">
                <a16:creationId xmlns:a16="http://schemas.microsoft.com/office/drawing/2014/main" id="{93578D9B-D6C4-40A0-A420-0DEE6C662F06}"/>
              </a:ext>
            </a:extLst>
          </p:cNvPr>
          <p:cNvSpPr>
            <a:spLocks noGrp="1"/>
          </p:cNvSpPr>
          <p:nvPr/>
        </p:nvSpPr>
        <p:spPr>
          <a:xfrm>
            <a:off x="9321800" y="547688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125" b="0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8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CERTIFICATION</a:t>
            </a:r>
            <a:r>
              <a:rPr lang="pl-PL" sz="8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9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·</a:t>
            </a:r>
            <a:r>
              <a:rPr sz="8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pl-PL" sz="8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Module:</a:t>
            </a:r>
            <a:r>
              <a:rPr sz="85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MLOPS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9C603A-D9FC-47FA-850D-3FBB98176174}"/>
              </a:ext>
            </a:extLst>
          </p:cNvPr>
          <p:cNvSpPr>
            <a:spLocks noGrp="1"/>
          </p:cNvSpPr>
          <p:nvPr/>
        </p:nvSpPr>
        <p:spPr>
          <a:xfrm>
            <a:off x="7696200" y="257175"/>
            <a:ext cx="1581150" cy="361950"/>
          </a:xfrm>
          <a:prstGeom prst="roundRect">
            <a:avLst>
              <a:gd name="adj" fmla="val 50000"/>
            </a:avLst>
          </a:prstGeom>
          <a:solidFill>
            <a:srgbClr val="FF67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15.10.2026">
            <a:extLst>
              <a:ext uri="{FF2B5EF4-FFF2-40B4-BE49-F238E27FC236}">
                <a16:creationId xmlns:a16="http://schemas.microsoft.com/office/drawing/2014/main" id="{3448ADE6-CAEC-405E-9995-0BCDB7B36DAB}"/>
              </a:ext>
            </a:extLst>
          </p:cNvPr>
          <p:cNvSpPr>
            <a:spLocks noGrp="1"/>
          </p:cNvSpPr>
          <p:nvPr/>
        </p:nvSpPr>
        <p:spPr>
          <a:xfrm>
            <a:off x="7696200" y="254000"/>
            <a:ext cx="1587500" cy="368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 anchorCtr="0">
            <a:noAutofit/>
          </a:bodyPr>
          <a:lstStyle>
            <a:def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4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15.10.2026</a:t>
            </a:r>
          </a:p>
        </p:txBody>
      </p:sp>
      <p:sp>
        <p:nvSpPr>
          <p:cNvPr id="8" name="AYOUB / PROJEKT CERTYFIKACYJNY / INDUSTRIAL IMAGE ANOMALY DE">
            <a:extLst>
              <a:ext uri="{FF2B5EF4-FFF2-40B4-BE49-F238E27FC236}">
                <a16:creationId xmlns:a16="http://schemas.microsoft.com/office/drawing/2014/main" id="{44D4F07A-3F3C-4260-AA9E-8677400B6E54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56519A"/>
                </a:solidFill>
                <a:latin typeface="Aptos"/>
                <a:ea typeface="Aptos"/>
                <a:cs typeface="Aptos"/>
              </a:rPr>
              <a:t>OPENING / CERTIFICATION PROJECT</a:t>
            </a:r>
          </a:p>
        </p:txBody>
      </p:sp>
      <p:sp>
        <p:nvSpPr>
          <p:cNvPr id="9" name="Automatyzacja kontroli jakości">
            <a:extLst>
              <a:ext uri="{FF2B5EF4-FFF2-40B4-BE49-F238E27FC236}">
                <a16:creationId xmlns:a16="http://schemas.microsoft.com/office/drawing/2014/main" id="{9E69F624-FDB4-4FDB-B922-B63AA6CB0F33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Industrial Image Anomaly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271EE1-E429-4018-983B-351C96F31629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r>
              <a:rPr lang="pl-PL" dirty="0"/>
              <a:t> </a:t>
            </a:r>
            <a:endParaRPr lang="en-US" dirty="0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658CEF99-C3CD-481E-998D-61939C7A71E1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D9345DA3-51BF-4222-B131-7460AA50CA93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Ayoub Hamdoun</a:t>
            </a:r>
          </a:p>
        </p:txBody>
      </p:sp>
      <p:sp>
        <p:nvSpPr>
          <p:cNvPr id="13" name="01 / 26">
            <a:extLst>
              <a:ext uri="{FF2B5EF4-FFF2-40B4-BE49-F238E27FC236}">
                <a16:creationId xmlns:a16="http://schemas.microsoft.com/office/drawing/2014/main" id="{447E0DD4-ADD4-4766-9B9C-11654C2B8186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 /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1993392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56519A"/>
                </a:solidFill>
                <a:latin typeface="Aptos"/>
              </a:rPr>
              <a:t>Convolutional Autoencoder</a:t>
            </a:r>
          </a:p>
          <a:p>
            <a:pPr algn="l"/>
            <a:r>
              <a:rPr sz="2000" b="1" i="0">
                <a:solidFill>
                  <a:srgbClr val="56519A"/>
                </a:solidFill>
                <a:latin typeface="Aptos"/>
              </a:rPr>
              <a:t>and MLOps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2697480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dirty="0">
                <a:solidFill>
                  <a:srgbClr val="686783"/>
                </a:solidFill>
                <a:latin typeface="Aptos"/>
              </a:rPr>
              <a:t>End-to-end project: training, deployment, automation and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29184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PRESENTED TO LIORA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56616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 dirty="0">
                <a:solidFill>
                  <a:srgbClr val="37377F"/>
                </a:solidFill>
                <a:latin typeface="Aptos"/>
              </a:rPr>
              <a:t>Ayoub Hamdoun</a:t>
            </a:r>
          </a:p>
          <a:p>
            <a:pPr algn="l">
              <a:spcBef>
                <a:spcPts val="100"/>
              </a:spcBef>
            </a:pPr>
            <a:r>
              <a:rPr sz="1550" b="1" i="0" dirty="0">
                <a:solidFill>
                  <a:srgbClr val="37377F"/>
                </a:solidFill>
                <a:latin typeface="Aptos"/>
              </a:rPr>
              <a:t>Mohamed Bouraaman</a:t>
            </a:r>
          </a:p>
          <a:p>
            <a:pPr algn="l">
              <a:spcBef>
                <a:spcPts val="100"/>
              </a:spcBef>
            </a:pPr>
            <a:r>
              <a:rPr sz="1550" b="1" i="0" dirty="0">
                <a:solidFill>
                  <a:srgbClr val="37377F"/>
                </a:solidFill>
                <a:latin typeface="Aptos"/>
              </a:rPr>
              <a:t>Paweł Flak</a:t>
            </a:r>
            <a:endParaRPr sz="1150" b="0" i="0" dirty="0">
              <a:solidFill>
                <a:srgbClr val="686783"/>
              </a:solidFill>
              <a:latin typeface="Aptos"/>
            </a:endParaRPr>
          </a:p>
        </p:txBody>
      </p:sp>
      <p:sp>
        <p:nvSpPr>
          <p:cNvPr id="25" name="Firma ML. Trzech klientów."/>
          <p:cNvSpPr/>
          <p:nvPr/>
        </p:nvSpPr>
        <p:spPr>
          <a:xfrm>
            <a:off x="469900" y="4608576"/>
            <a:ext cx="4965700" cy="1499616"/>
          </a:xfrm>
          <a:prstGeom prst="roundRect">
            <a:avLst>
              <a:gd name="adj" fmla="val 9756"/>
            </a:avLst>
          </a:prstGeom>
          <a:solidFill>
            <a:srgbClr val="EAE8F5"/>
          </a:solidFill>
          <a:ln>
            <a:noFill/>
          </a:ln>
        </p:spPr>
        <p:txBody>
          <a:bodyPr wrap="square" lIns="182880" tIns="329184" rIns="164592" bIns="73152" rtlCol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37377F"/>
                </a:solidFill>
                <a:latin typeface="Aptos"/>
              </a:rPr>
              <a:t>Three potential production use cases</a:t>
            </a:r>
          </a:p>
          <a:p>
            <a:pPr algn="l">
              <a:spcBef>
                <a:spcPts val="400"/>
              </a:spcBef>
            </a:pPr>
            <a:r>
              <a:rPr lang="en-US" sz="1250" b="0" i="0" dirty="0">
                <a:solidFill>
                  <a:srgbClr val="686783"/>
                </a:solidFill>
                <a:latin typeface="Aptos"/>
              </a:rPr>
              <a:t>Product images feed automated visual inspection.</a:t>
            </a:r>
          </a:p>
          <a:p>
            <a:pPr algn="l">
              <a:spcBef>
                <a:spcPts val="400"/>
              </a:spcBef>
            </a:pPr>
            <a:r>
              <a:rPr lang="en-US" sz="1250" b="1" i="0" dirty="0">
                <a:solidFill>
                  <a:srgbClr val="37377F"/>
                </a:solidFill>
                <a:latin typeface="Aptos"/>
              </a:rPr>
              <a:t>Bottle · Wood · Pill: one MLOps workflow, a separate model per category</a:t>
            </a:r>
          </a:p>
        </p:txBody>
      </p:sp>
      <p:sp>
        <p:nvSpPr>
          <p:cNvPr id="40" name="Schemat tło"/>
          <p:cNvSpPr/>
          <p:nvPr/>
        </p:nvSpPr>
        <p:spPr>
          <a:xfrm>
            <a:off x="5613400" y="2006600"/>
            <a:ext cx="6108700" cy="4102100"/>
          </a:xfrm>
          <a:prstGeom prst="roundRect">
            <a:avLst>
              <a:gd name="adj" fmla="val 3571"/>
            </a:avLst>
          </a:prstGeom>
          <a:solidFill>
            <a:srgbClr val="EAE8F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41" name="Etap: Obraz wejściowy"/>
          <p:cNvSpPr/>
          <p:nvPr/>
        </p:nvSpPr>
        <p:spPr>
          <a:xfrm>
            <a:off x="5791200" y="2514600"/>
            <a:ext cx="17272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42" name="Etykieta: Obraz wejściowy"/>
          <p:cNvSpPr/>
          <p:nvPr/>
        </p:nvSpPr>
        <p:spPr>
          <a:xfrm>
            <a:off x="5892800" y="2616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1" dirty="0">
                <a:solidFill>
                  <a:srgbClr val="37377F"/>
                </a:solidFill>
                <a:latin typeface="Aptos"/>
              </a:rPr>
              <a:t>Input image</a:t>
            </a:r>
          </a:p>
        </p:txBody>
      </p:sp>
      <p:sp>
        <p:nvSpPr>
          <p:cNvPr id="43" name="Opis: Obraz wejściowy"/>
          <p:cNvSpPr/>
          <p:nvPr/>
        </p:nvSpPr>
        <p:spPr>
          <a:xfrm>
            <a:off x="5918200" y="3987800"/>
            <a:ext cx="1473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l-PL" sz="1000" b="0" dirty="0">
                <a:solidFill>
                  <a:srgbClr val="686783"/>
                </a:solidFill>
                <a:latin typeface="Aptos"/>
              </a:rPr>
              <a:t>Image x · 128×128 RGB</a:t>
            </a:r>
          </a:p>
        </p:txBody>
      </p:sp>
      <p:sp>
        <p:nvSpPr>
          <p:cNvPr id="44" name="Etap: Autoencoder"/>
          <p:cNvSpPr/>
          <p:nvPr/>
        </p:nvSpPr>
        <p:spPr>
          <a:xfrm>
            <a:off x="7797800" y="2514600"/>
            <a:ext cx="17272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45" name="Etykieta: Autoencoder"/>
          <p:cNvSpPr/>
          <p:nvPr/>
        </p:nvSpPr>
        <p:spPr>
          <a:xfrm>
            <a:off x="7899400" y="2616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1" dirty="0">
                <a:solidFill>
                  <a:srgbClr val="37377F"/>
                </a:solidFill>
                <a:latin typeface="Aptos"/>
              </a:rPr>
              <a:t>Autoencoder</a:t>
            </a:r>
          </a:p>
        </p:txBody>
      </p:sp>
      <p:sp>
        <p:nvSpPr>
          <p:cNvPr id="46" name="Opis: Autoencoder"/>
          <p:cNvSpPr/>
          <p:nvPr/>
        </p:nvSpPr>
        <p:spPr>
          <a:xfrm>
            <a:off x="7924800" y="39370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l-PL" sz="1000" b="0" dirty="0">
                <a:solidFill>
                  <a:srgbClr val="686783"/>
                </a:solidFill>
                <a:latin typeface="Aptos"/>
              </a:rPr>
              <a:t>Reconstruction x̂, trained on normal images only</a:t>
            </a:r>
          </a:p>
        </p:txBody>
      </p:sp>
      <p:sp>
        <p:nvSpPr>
          <p:cNvPr id="47" name="Etap: Mapa błędu |x − x̂|"/>
          <p:cNvSpPr/>
          <p:nvPr/>
        </p:nvSpPr>
        <p:spPr>
          <a:xfrm>
            <a:off x="9804400" y="2514600"/>
            <a:ext cx="17272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48" name="Etykieta: Mapa błędu |x − x̂|"/>
          <p:cNvSpPr/>
          <p:nvPr/>
        </p:nvSpPr>
        <p:spPr>
          <a:xfrm>
            <a:off x="9906000" y="2616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1" dirty="0">
                <a:solidFill>
                  <a:srgbClr val="37377F"/>
                </a:solidFill>
                <a:latin typeface="Aptos"/>
              </a:rPr>
              <a:t>Error map |x − x̂|</a:t>
            </a:r>
          </a:p>
        </p:txBody>
      </p:sp>
      <p:sp>
        <p:nvSpPr>
          <p:cNvPr id="49" name="Opis: Mapa błędu |x − x̂|"/>
          <p:cNvSpPr/>
          <p:nvPr/>
        </p:nvSpPr>
        <p:spPr>
          <a:xfrm>
            <a:off x="9931400" y="3987800"/>
            <a:ext cx="1473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l-PL" sz="1000" b="0" dirty="0">
                <a:solidFill>
                  <a:srgbClr val="686783"/>
                </a:solidFill>
                <a:latin typeface="Aptos"/>
              </a:rPr>
              <a:t>High error = suspicious region</a:t>
            </a:r>
          </a:p>
        </p:txBody>
      </p:sp>
      <p:sp>
        <p:nvSpPr>
          <p:cNvPr id="50" name="Butelka szyjka x"/>
          <p:cNvSpPr/>
          <p:nvPr/>
        </p:nvSpPr>
        <p:spPr>
          <a:xfrm>
            <a:off x="6578600" y="2921000"/>
            <a:ext cx="152400" cy="203200"/>
          </a:xfrm>
          <a:prstGeom prst="rect">
            <a:avLst/>
          </a:prstGeom>
          <a:solidFill>
            <a:srgbClr val="C9C7E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1" name="Butelka korpus x"/>
          <p:cNvSpPr/>
          <p:nvPr/>
        </p:nvSpPr>
        <p:spPr>
          <a:xfrm>
            <a:off x="6426200" y="3098800"/>
            <a:ext cx="457200" cy="787400"/>
          </a:xfrm>
          <a:prstGeom prst="roundRect">
            <a:avLst>
              <a:gd name="adj" fmla="val 22000"/>
            </a:avLst>
          </a:prstGeom>
          <a:solidFill>
            <a:srgbClr val="C9C7E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2" name="Defekt"/>
          <p:cNvSpPr/>
          <p:nvPr/>
        </p:nvSpPr>
        <p:spPr>
          <a:xfrm>
            <a:off x="6565900" y="3479800"/>
            <a:ext cx="127000" cy="76200"/>
          </a:xfrm>
          <a:prstGeom prst="ellipse">
            <a:avLst/>
          </a:prstGeom>
          <a:solidFill>
            <a:srgbClr val="37377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3" name="Encoder"/>
          <p:cNvSpPr/>
          <p:nvPr/>
        </p:nvSpPr>
        <p:spPr>
          <a:xfrm rot="5400000">
            <a:off x="7861300" y="3187700"/>
            <a:ext cx="711200" cy="431800"/>
          </a:xfrm>
          <a:prstGeom prst="trapezoid">
            <a:avLst/>
          </a:prstGeom>
          <a:solidFill>
            <a:srgbClr val="C9C7E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4" name="Latent"/>
          <p:cNvSpPr/>
          <p:nvPr/>
        </p:nvSpPr>
        <p:spPr>
          <a:xfrm>
            <a:off x="8585200" y="3276600"/>
            <a:ext cx="152400" cy="254000"/>
          </a:xfrm>
          <a:prstGeom prst="rect">
            <a:avLst/>
          </a:prstGeom>
          <a:solidFill>
            <a:srgbClr val="37377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5" name="Decoder"/>
          <p:cNvSpPr/>
          <p:nvPr/>
        </p:nvSpPr>
        <p:spPr>
          <a:xfrm rot="16200000">
            <a:off x="8750300" y="3187700"/>
            <a:ext cx="711200" cy="431800"/>
          </a:xfrm>
          <a:prstGeom prst="trapezoid">
            <a:avLst/>
          </a:prstGeom>
          <a:solidFill>
            <a:srgbClr val="C9C7E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6" name="Butelka szyjka mapa"/>
          <p:cNvSpPr/>
          <p:nvPr/>
        </p:nvSpPr>
        <p:spPr>
          <a:xfrm>
            <a:off x="10591800" y="2921000"/>
            <a:ext cx="152400" cy="203200"/>
          </a:xfrm>
          <a:prstGeom prst="rect">
            <a:avLst/>
          </a:prstGeom>
          <a:solidFill>
            <a:srgbClr val="C9C7E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7" name="Butelka korpus mapa"/>
          <p:cNvSpPr/>
          <p:nvPr/>
        </p:nvSpPr>
        <p:spPr>
          <a:xfrm>
            <a:off x="10439400" y="3098800"/>
            <a:ext cx="457200" cy="787400"/>
          </a:xfrm>
          <a:prstGeom prst="roundRect">
            <a:avLst>
              <a:gd name="adj" fmla="val 22000"/>
            </a:avLst>
          </a:prstGeom>
          <a:solidFill>
            <a:srgbClr val="C9C7E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8" name="Mapa ciepła zewn."/>
          <p:cNvSpPr/>
          <p:nvPr/>
        </p:nvSpPr>
        <p:spPr>
          <a:xfrm>
            <a:off x="10490200" y="3365500"/>
            <a:ext cx="304800" cy="304800"/>
          </a:xfrm>
          <a:prstGeom prst="ellipse">
            <a:avLst/>
          </a:prstGeom>
          <a:solidFill>
            <a:srgbClr val="F6D3C8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59" name="Mapa ciepła wewn."/>
          <p:cNvSpPr/>
          <p:nvPr/>
        </p:nvSpPr>
        <p:spPr>
          <a:xfrm>
            <a:off x="10579100" y="3454400"/>
            <a:ext cx="127000" cy="127000"/>
          </a:xfrm>
          <a:prstGeom prst="ellipse">
            <a:avLst/>
          </a:prstGeom>
          <a:solidFill>
            <a:srgbClr val="B8452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cxnSp>
        <p:nvCxnSpPr>
          <p:cNvPr id="60" name="Strzałka 1"/>
          <p:cNvCxnSpPr/>
          <p:nvPr/>
        </p:nvCxnSpPr>
        <p:spPr>
          <a:xfrm>
            <a:off x="7569200" y="3467100"/>
            <a:ext cx="177800" cy="0"/>
          </a:xfrm>
          <a:prstGeom prst="line">
            <a:avLst/>
          </a:prstGeom>
          <a:ln w="15875">
            <a:solidFill>
              <a:srgbClr val="37377F"/>
            </a:solidFill>
            <a:tailEnd type="triangle" w="med" len="med"/>
          </a:ln>
        </p:spPr>
      </p:cxnSp>
      <p:cxnSp>
        <p:nvCxnSpPr>
          <p:cNvPr id="61" name="Strzałka 2"/>
          <p:cNvCxnSpPr/>
          <p:nvPr/>
        </p:nvCxnSpPr>
        <p:spPr>
          <a:xfrm>
            <a:off x="9575800" y="3467100"/>
            <a:ext cx="177800" cy="0"/>
          </a:xfrm>
          <a:prstGeom prst="line">
            <a:avLst/>
          </a:prstGeom>
          <a:ln w="15875">
            <a:solidFill>
              <a:srgbClr val="37377F"/>
            </a:solidFill>
            <a:tailEnd type="triangle" w="med" len="med"/>
          </a:ln>
        </p:spPr>
      </p:cxnSp>
      <p:sp>
        <p:nvSpPr>
          <p:cNvPr id="62" name="Klasyfikacja tło"/>
          <p:cNvSpPr/>
          <p:nvPr/>
        </p:nvSpPr>
        <p:spPr>
          <a:xfrm>
            <a:off x="5791200" y="4597400"/>
            <a:ext cx="5753100" cy="1346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63" name="Klasyfikacja etykieta"/>
          <p:cNvSpPr/>
          <p:nvPr/>
        </p:nvSpPr>
        <p:spPr>
          <a:xfrm>
            <a:off x="5969000" y="4699000"/>
            <a:ext cx="3022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100" b="1" dirty="0">
                <a:solidFill>
                  <a:srgbClr val="37377F"/>
                </a:solidFill>
                <a:latin typeface="Aptos"/>
              </a:rPr>
              <a:t>Classification: score s(x) vs threshold τ</a:t>
            </a:r>
          </a:p>
        </p:txBody>
      </p:sp>
      <p:sp>
        <p:nvSpPr>
          <p:cNvPr id="64" name="Skala normalna"/>
          <p:cNvSpPr/>
          <p:nvPr/>
        </p:nvSpPr>
        <p:spPr>
          <a:xfrm>
            <a:off x="5969000" y="5105400"/>
            <a:ext cx="1651000" cy="127000"/>
          </a:xfrm>
          <a:prstGeom prst="rect">
            <a:avLst/>
          </a:prstGeom>
          <a:solidFill>
            <a:srgbClr val="C9C7E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65" name="Skala defekt"/>
          <p:cNvSpPr/>
          <p:nvPr/>
        </p:nvSpPr>
        <p:spPr>
          <a:xfrm>
            <a:off x="7620000" y="5105400"/>
            <a:ext cx="1143000" cy="127000"/>
          </a:xfrm>
          <a:prstGeom prst="rect">
            <a:avLst/>
          </a:prstGeom>
          <a:solidFill>
            <a:srgbClr val="F6D3C8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66" name="Próg"/>
          <p:cNvSpPr/>
          <p:nvPr/>
        </p:nvSpPr>
        <p:spPr>
          <a:xfrm>
            <a:off x="7607300" y="5016500"/>
            <a:ext cx="25400" cy="304800"/>
          </a:xfrm>
          <a:prstGeom prst="rect">
            <a:avLst/>
          </a:prstGeom>
          <a:solidFill>
            <a:srgbClr val="37377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67" name="Score"/>
          <p:cNvSpPr/>
          <p:nvPr/>
        </p:nvSpPr>
        <p:spPr>
          <a:xfrm>
            <a:off x="8305800" y="5067300"/>
            <a:ext cx="203200" cy="203200"/>
          </a:xfrm>
          <a:prstGeom prst="ellipse">
            <a:avLst/>
          </a:prstGeom>
          <a:solidFill>
            <a:srgbClr val="B8452B"/>
          </a:solidFill>
          <a:ln w="19050">
            <a:solidFill>
              <a:srgbClr val="FFFFFF"/>
            </a:solidFill>
          </a:ln>
        </p:spPr>
        <p:txBody>
          <a:bodyPr lIns="0" tIns="0" rIns="0" bIns="0" anchor="ctr">
            <a:noAutofit/>
          </a:bodyPr>
          <a:lstStyle/>
          <a:p>
            <a:endParaRPr lang="pl-PL" sz="1000"/>
          </a:p>
        </p:txBody>
      </p:sp>
      <p:sp>
        <p:nvSpPr>
          <p:cNvPr id="68" name="Etykieta próg"/>
          <p:cNvSpPr/>
          <p:nvPr/>
        </p:nvSpPr>
        <p:spPr>
          <a:xfrm>
            <a:off x="7010400" y="53467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000" b="1" dirty="0">
                <a:solidFill>
                  <a:srgbClr val="37377F"/>
                </a:solidFill>
                <a:latin typeface="Aptos"/>
              </a:rPr>
              <a:t>THRESHOLD τ</a:t>
            </a:r>
          </a:p>
        </p:txBody>
      </p:sp>
      <p:sp>
        <p:nvSpPr>
          <p:cNvPr id="69" name="Etykieta score"/>
          <p:cNvSpPr/>
          <p:nvPr/>
        </p:nvSpPr>
        <p:spPr>
          <a:xfrm>
            <a:off x="8089900" y="53213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000" b="1" dirty="0">
                <a:solidFill>
                  <a:srgbClr val="B8452B"/>
                </a:solidFill>
                <a:latin typeface="Aptos"/>
              </a:rPr>
              <a:t>s(x)</a:t>
            </a:r>
          </a:p>
        </p:txBody>
      </p:sp>
      <p:sp>
        <p:nvSpPr>
          <p:cNvPr id="70" name="Etykieta norma"/>
          <p:cNvSpPr/>
          <p:nvPr/>
        </p:nvSpPr>
        <p:spPr>
          <a:xfrm>
            <a:off x="5969000" y="53467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000" b="0" dirty="0">
                <a:solidFill>
                  <a:srgbClr val="686783"/>
                </a:solidFill>
                <a:latin typeface="Aptos"/>
              </a:rPr>
              <a:t>normal</a:t>
            </a:r>
          </a:p>
        </p:txBody>
      </p:sp>
      <p:sp>
        <p:nvSpPr>
          <p:cNvPr id="71" name="Pill OK"/>
          <p:cNvSpPr/>
          <p:nvPr/>
        </p:nvSpPr>
        <p:spPr>
          <a:xfrm>
            <a:off x="9042400" y="4749800"/>
            <a:ext cx="23241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377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000" b="1" dirty="0">
                <a:solidFill>
                  <a:srgbClr val="37377F"/>
                </a:solidFill>
                <a:latin typeface="Aptos"/>
              </a:rPr>
              <a:t>s(x) ≤ τ  →  OK, good product</a:t>
            </a:r>
          </a:p>
        </p:txBody>
      </p:sp>
      <p:sp>
        <p:nvSpPr>
          <p:cNvPr id="72" name="Pill Anomalia"/>
          <p:cNvSpPr/>
          <p:nvPr/>
        </p:nvSpPr>
        <p:spPr>
          <a:xfrm>
            <a:off x="9042400" y="5181600"/>
            <a:ext cx="2324100" cy="355600"/>
          </a:xfrm>
          <a:prstGeom prst="roundRect">
            <a:avLst>
              <a:gd name="adj" fmla="val 50000"/>
            </a:avLst>
          </a:prstGeom>
          <a:solidFill>
            <a:srgbClr val="B845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000" b="1" dirty="0">
                <a:solidFill>
                  <a:srgbClr val="FFFFFF"/>
                </a:solidFill>
                <a:latin typeface="Aptos"/>
              </a:rPr>
              <a:t>s(x) &gt; τ  →  ANOMALY</a:t>
            </a:r>
          </a:p>
        </p:txBody>
      </p:sp>
      <p:sp>
        <p:nvSpPr>
          <p:cNvPr id="73" name="Kategorie"/>
          <p:cNvSpPr/>
          <p:nvPr/>
        </p:nvSpPr>
        <p:spPr>
          <a:xfrm>
            <a:off x="5969000" y="5638800"/>
            <a:ext cx="5397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000" b="0" dirty="0">
                <a:solidFill>
                  <a:srgbClr val="686783"/>
                </a:solidFill>
                <a:latin typeface="Aptos"/>
              </a:rPr>
              <a:t>Separate model and threshold for each category: </a:t>
            </a:r>
            <a:r>
              <a:rPr lang="pl-PL" sz="1000" b="1" dirty="0">
                <a:solidFill>
                  <a:srgbClr val="37377F"/>
                </a:solidFill>
                <a:latin typeface="Aptos"/>
              </a:rPr>
              <a:t>Bottle · Wood · Pill</a:t>
            </a:r>
          </a:p>
        </p:txBody>
      </p:sp>
      <p:sp>
        <p:nvSpPr>
          <p:cNvPr id="28" name="Oznaczenie: SCHEMAT"/>
          <p:cNvSpPr/>
          <p:nvPr/>
        </p:nvSpPr>
        <p:spPr>
          <a:xfrm>
            <a:off x="5797296" y="2176272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452B"/>
            </a:solidFill>
          </a:ln>
        </p:spPr>
        <p:txBody>
          <a:bodyPr wrap="none" lIns="73152" tIns="0" rIns="73152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B8452B"/>
                </a:solidFill>
                <a:latin typeface="Aptos"/>
              </a:rPr>
              <a:t>SCHEMATIC · DETECTION AND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679353707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E709541-B2F6-45C3-B626-F727C10DEB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CED770-9B09-4B17-A493-E6264237B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18DBE577-678F-442A-B1CD-615465EC02B5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AGENDA / ZESPÓŁ PROJEKTOWY">
            <a:extLst>
              <a:ext uri="{FF2B5EF4-FFF2-40B4-BE49-F238E27FC236}">
                <a16:creationId xmlns:a16="http://schemas.microsoft.com/office/drawing/2014/main" id="{F4995F11-D943-4483-A6A0-ED2B39E8F2EC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56519A"/>
                </a:solidFill>
                <a:latin typeface="Aptos"/>
                <a:ea typeface="Aptos"/>
                <a:cs typeface="Aptos"/>
              </a:rPr>
              <a:t>AGENDA / PROJECT TEAM</a:t>
            </a:r>
          </a:p>
        </p:txBody>
      </p:sp>
      <p:sp>
        <p:nvSpPr>
          <p:cNvPr id="9" name="Przebieg prezentacji">
            <a:extLst>
              <a:ext uri="{FF2B5EF4-FFF2-40B4-BE49-F238E27FC236}">
                <a16:creationId xmlns:a16="http://schemas.microsoft.com/office/drawing/2014/main" id="{5345CE38-9EA8-44EB-89B7-5B0330C7FDCA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Presentation outline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1281C-B10A-4B6E-B140-654627367742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42F1DF8C-F9B7-40A3-97CF-33DDEE40D7B8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EB156C47-62CB-4BAE-930A-BBA29009C167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02 / 26">
            <a:extLst>
              <a:ext uri="{FF2B5EF4-FFF2-40B4-BE49-F238E27FC236}">
                <a16:creationId xmlns:a16="http://schemas.microsoft.com/office/drawing/2014/main" id="{08456D91-F40F-477F-B78B-0A9DE32CB3B1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 /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Presentation order:  </a:t>
            </a:r>
            <a:r>
              <a:rPr sz="1500" b="1" i="0">
                <a:solidFill>
                  <a:srgbClr val="37377F"/>
                </a:solidFill>
                <a:latin typeface="Aptos"/>
              </a:rPr>
              <a:t>Ayoub → Mohamed → Paweł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2425700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706AB0"/>
                </a:solidFill>
                <a:latin typeface="Apto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2476500"/>
            <a:ext cx="100330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37377F"/>
                </a:solidFill>
                <a:latin typeface="Aptos"/>
              </a:rPr>
              <a:t>Ayoub Hamdoun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2844800"/>
            <a:ext cx="10033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686783"/>
                </a:solidFill>
                <a:latin typeface="Aptos"/>
              </a:rPr>
              <a:t>Team contributions; system architecture; anomaly detection problem; convolutional autoencoder; dataset and batches; TensorFlow training; MLflow tracking and 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3695700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706AB0"/>
                </a:solidFill>
                <a:latin typeface="Apto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55064" y="3746500"/>
            <a:ext cx="100330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dirty="0">
                <a:solidFill>
                  <a:srgbClr val="37377F"/>
                </a:solidFill>
                <a:latin typeface="Aptos"/>
              </a:rPr>
              <a:t>Mohamed Bouraaman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5064" y="4114800"/>
            <a:ext cx="10033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686783"/>
                </a:solidFill>
                <a:latin typeface="Aptos"/>
              </a:rPr>
              <a:t>Docker Compose; PostgreSQL; batch release; Airflow orchestration; FastAPI and 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965700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706AB0"/>
                </a:solidFill>
                <a:latin typeface="Apto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55064" y="5016500"/>
            <a:ext cx="100330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dirty="0">
                <a:solidFill>
                  <a:srgbClr val="37377F"/>
                </a:solidFill>
                <a:latin typeface="Aptos"/>
              </a:rPr>
              <a:t>Paweł Flak</a:t>
            </a:r>
            <a:endParaRPr sz="1250" b="0" i="0" dirty="0">
              <a:solidFill>
                <a:srgbClr val="686783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55064" y="5384800"/>
            <a:ext cx="10033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686783"/>
                </a:solidFill>
                <a:latin typeface="Aptos"/>
              </a:rPr>
              <a:t>MLflow Champion; Streamlit and Spotlight; Evidently data drift; Prometheus and Grafana; assessment and live demonstration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164335A7-8E9C-122B-A511-76AF0D553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C162B5E2-BAE3-469D-992D-BA752724706D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144663358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AA13D1F-2BE5-4AFC-8642-E234C119F1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00E429-67BF-436F-92F5-E39624C68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A5611AE0-27F1-4A5E-B8C9-370E0CDB0795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WKŁAD AUTORÓW">
            <a:extLst>
              <a:ext uri="{FF2B5EF4-FFF2-40B4-BE49-F238E27FC236}">
                <a16:creationId xmlns:a16="http://schemas.microsoft.com/office/drawing/2014/main" id="{474E7333-5C85-4B34-8FBF-0E9C74C10491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AUTHOR CONTRIBUTIONS</a:t>
            </a:r>
          </a:p>
        </p:txBody>
      </p:sp>
      <p:sp>
        <p:nvSpPr>
          <p:cNvPr id="9" name="Podział pracy w zespole">
            <a:extLst>
              <a:ext uri="{FF2B5EF4-FFF2-40B4-BE49-F238E27FC236}">
                <a16:creationId xmlns:a16="http://schemas.microsoft.com/office/drawing/2014/main" id="{E8D2417C-1148-4CCC-9C30-FB3DC2B3887A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Team contributions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08447-1E9C-46DE-BDD7-0A283DC9B7FF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9E2C6D3D-908E-4D91-8AE3-2D0B2CB8D2AA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  <a:endParaRPr sz="975" b="0" dirty="0">
              <a:solidFill>
                <a:srgbClr val="D9D6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3DF6E50E-6FB0-4899-9206-8654AD07C65D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03 / 26">
            <a:extLst>
              <a:ext uri="{FF2B5EF4-FFF2-40B4-BE49-F238E27FC236}">
                <a16:creationId xmlns:a16="http://schemas.microsoft.com/office/drawing/2014/main" id="{C5601AEB-3810-4418-B350-E2235E310A53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 / 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24505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37377F"/>
                </a:solidFill>
                <a:latin typeface="Aptos"/>
              </a:rPr>
              <a:t>Ayoub Hamdoun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2834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706AB0"/>
                </a:solidFill>
                <a:latin typeface="Aptos"/>
              </a:rPr>
              <a:t>GitHub: ahamdoun14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3200400"/>
            <a:ext cx="3566160" cy="10972"/>
          </a:xfrm>
          <a:prstGeom prst="rect">
            <a:avLst/>
          </a:prstGeom>
          <a:solidFill>
            <a:srgbClr val="D9D6E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3364992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CNN/CAE model in src/training.py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Model training and MLflow experiment tracking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Data splitting and incremental batch automation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MLflow/Airflow integration and workflow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4505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 dirty="0">
                <a:solidFill>
                  <a:srgbClr val="37377F"/>
                </a:solidFill>
                <a:latin typeface="Aptos"/>
              </a:rPr>
              <a:t>Mohamed Bouraaman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2834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706AB0"/>
                </a:solidFill>
                <a:latin typeface="Aptos"/>
              </a:rPr>
              <a:t>GitHub: mbrmpro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5968" y="3200400"/>
            <a:ext cx="3566160" cy="10972"/>
          </a:xfrm>
          <a:prstGeom prst="rect">
            <a:avLst/>
          </a:prstGeom>
          <a:solidFill>
            <a:srgbClr val="D9D6E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15968" y="3364992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Project initialization and core structure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Database import and baseline pipeline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Training/prediction API and basic tests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Docker microservices and scheduled Airflow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24505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37377F"/>
                </a:solidFill>
                <a:latin typeface="Aptos"/>
              </a:rPr>
              <a:t>Paweł Flak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2834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706AB0"/>
                </a:solidFill>
                <a:latin typeface="Aptos"/>
              </a:rPr>
              <a:t>GitHub: flak92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6448" y="3200400"/>
            <a:ext cx="3566160" cy="10972"/>
          </a:xfrm>
          <a:prstGeom prst="rect">
            <a:avLst/>
          </a:prstGeom>
          <a:solidFill>
            <a:srgbClr val="D9D6E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56448" y="3364992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MLflow Registry and champion selection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Prometheus and Grafana monitoring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Streamlit frontend and Spotlight guided tour</a:t>
            </a:r>
          </a:p>
          <a:p>
            <a:pPr marL="164592" indent="-164592" algn="l">
              <a:spcBef>
                <a:spcPts val="7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Dataset/Git provenance and README updates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4A5966EC-82D9-BAC1-9270-AB42B3547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7BCD63F6-36D7-4B4C-9C4B-5E0FA64D685B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179869032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CB4882-DF68-4D06-AB2E-ABE86946A0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3C585A-9B9C-47EE-927C-CF034D803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A07A2488-F993-46CF-92BF-380B3211A8EE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HISTORIA WDROŻENIA">
            <a:extLst>
              <a:ext uri="{FF2B5EF4-FFF2-40B4-BE49-F238E27FC236}">
                <a16:creationId xmlns:a16="http://schemas.microsoft.com/office/drawing/2014/main" id="{4F22EA0A-05B6-4D08-A804-8CA7B374D46B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USE-CASE SCENARIO</a:t>
            </a:r>
          </a:p>
        </p:txBody>
      </p:sp>
      <p:sp>
        <p:nvSpPr>
          <p:cNvPr id="9" name="Firma ML stworzyła rozwiązanie dla trzech klientów">
            <a:extLst>
              <a:ext uri="{FF2B5EF4-FFF2-40B4-BE49-F238E27FC236}">
                <a16:creationId xmlns:a16="http://schemas.microsoft.com/office/drawing/2014/main" id="{F8D30326-78F6-4381-A63A-FF9BAA23BB89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lang="pl-PL" sz="2925" b="1" dirty="0">
                <a:solidFill>
                  <a:srgbClr val="37377F"/>
                </a:solidFill>
                <a:latin typeface="Aptos"/>
                <a:ea typeface="Aptos"/>
                <a:cs typeface="Aptos"/>
              </a:rPr>
              <a:t>One ML solution addresses three example production problems</a:t>
            </a:r>
            <a:endParaRPr sz="2925" b="1" dirty="0">
              <a:solidFill>
                <a:srgbClr val="37377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7AD25-B969-41E3-AAA5-4F57B19C2B6C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68C51F91-E933-4C48-B807-48FD4F164BC9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33A88915-A25B-4582-B3B5-2F5A9004D482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04 / 26">
            <a:extLst>
              <a:ext uri="{FF2B5EF4-FFF2-40B4-BE49-F238E27FC236}">
                <a16:creationId xmlns:a16="http://schemas.microsoft.com/office/drawing/2014/main" id="{5E65CD91-D956-476D-8EA3-8CDDCF011B68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 / 26</a:t>
            </a:r>
          </a:p>
        </p:txBody>
      </p:sp>
      <p:sp>
        <p:nvSpPr>
          <p:cNvPr id="14" name="Wspólny problem: zespół musi wychwycić nietypowy wygląd prod">
            <a:extLst>
              <a:ext uri="{FF2B5EF4-FFF2-40B4-BE49-F238E27FC236}">
                <a16:creationId xmlns:a16="http://schemas.microsoft.com/office/drawing/2014/main" id="{5B66CB79-7B72-4691-A620-A800C8D007A0}"/>
              </a:ext>
            </a:extLst>
          </p:cNvPr>
          <p:cNvSpPr>
            <a:spLocks noGrp="1"/>
          </p:cNvSpPr>
          <p:nvPr/>
        </p:nvSpPr>
        <p:spPr>
          <a:xfrm>
            <a:off x="476250" y="2259069"/>
            <a:ext cx="10858500" cy="49996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852" b="0" dirty="0" err="1">
                <a:solidFill>
                  <a:srgbClr val="686783"/>
                </a:solidFill>
                <a:latin typeface="Aptos"/>
                <a:ea typeface="Aptos"/>
                <a:cs typeface="Aptos"/>
              </a:rPr>
              <a:t>Shared problem: visual defects must be detected before the next process step.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9AA852-F9B2-49B9-B62C-45C7E688AF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40" b="4640"/>
          <a:stretch>
            <a:fillRect/>
          </a:stretch>
        </p:blipFill>
        <p:spPr>
          <a:xfrm>
            <a:off x="476250" y="2780586"/>
            <a:ext cx="3562350" cy="1818846"/>
          </a:xfrm>
          <a:prstGeom prst="roundRect">
            <a:avLst>
              <a:gd name="adj" fmla="val 12568"/>
            </a:avLst>
          </a:prstGeom>
        </p:spPr>
      </p:pic>
      <p:sp>
        <p:nvSpPr>
          <p:cNvPr id="16" name="Rozlewnia">
            <a:extLst>
              <a:ext uri="{FF2B5EF4-FFF2-40B4-BE49-F238E27FC236}">
                <a16:creationId xmlns:a16="http://schemas.microsoft.com/office/drawing/2014/main" id="{FA4A16A4-F6D4-4680-813C-7CE257C97B58}"/>
              </a:ext>
            </a:extLst>
          </p:cNvPr>
          <p:cNvSpPr>
            <a:spLocks noGrp="1"/>
          </p:cNvSpPr>
          <p:nvPr/>
        </p:nvSpPr>
        <p:spPr>
          <a:xfrm>
            <a:off x="476250" y="4797695"/>
            <a:ext cx="3562350" cy="3879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99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Bottling facility</a:t>
            </a:r>
          </a:p>
        </p:txBody>
      </p:sp>
      <p:sp>
        <p:nvSpPr>
          <p:cNvPr id="17" name="Butelki przed wysyłką">
            <a:extLst>
              <a:ext uri="{FF2B5EF4-FFF2-40B4-BE49-F238E27FC236}">
                <a16:creationId xmlns:a16="http://schemas.microsoft.com/office/drawing/2014/main" id="{14FCCB2B-3089-4959-B441-E4137129943C}"/>
              </a:ext>
            </a:extLst>
          </p:cNvPr>
          <p:cNvSpPr>
            <a:spLocks noGrp="1"/>
          </p:cNvSpPr>
          <p:nvPr/>
        </p:nvSpPr>
        <p:spPr>
          <a:xfrm>
            <a:off x="476250" y="5228701"/>
            <a:ext cx="3562350" cy="5258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68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568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568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Bottles before shipping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6E6EB9-6CD8-4C4E-A70B-2A18DABB64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640" b="4640"/>
          <a:stretch>
            <a:fillRect/>
          </a:stretch>
        </p:blipFill>
        <p:spPr>
          <a:xfrm>
            <a:off x="4314825" y="2780586"/>
            <a:ext cx="3562350" cy="1818846"/>
          </a:xfrm>
          <a:prstGeom prst="roundRect">
            <a:avLst>
              <a:gd name="adj" fmla="val 12568"/>
            </a:avLst>
          </a:prstGeom>
        </p:spPr>
      </p:pic>
      <p:sp>
        <p:nvSpPr>
          <p:cNvPr id="19" name="Producent tabletek">
            <a:extLst>
              <a:ext uri="{FF2B5EF4-FFF2-40B4-BE49-F238E27FC236}">
                <a16:creationId xmlns:a16="http://schemas.microsoft.com/office/drawing/2014/main" id="{84CB6D72-E8DD-4283-9706-7BFC131A921B}"/>
              </a:ext>
            </a:extLst>
          </p:cNvPr>
          <p:cNvSpPr>
            <a:spLocks noGrp="1"/>
          </p:cNvSpPr>
          <p:nvPr/>
        </p:nvSpPr>
        <p:spPr>
          <a:xfrm>
            <a:off x="4314825" y="4797695"/>
            <a:ext cx="3562350" cy="3879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99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Tablet manufacturer</a:t>
            </a:r>
          </a:p>
        </p:txBody>
      </p:sp>
      <p:sp>
        <p:nvSpPr>
          <p:cNvPr id="20" name="Powierzchnia przed pakowaniem">
            <a:extLst>
              <a:ext uri="{FF2B5EF4-FFF2-40B4-BE49-F238E27FC236}">
                <a16:creationId xmlns:a16="http://schemas.microsoft.com/office/drawing/2014/main" id="{302A86E7-F00E-436D-A07D-3AB2EF107F5B}"/>
              </a:ext>
            </a:extLst>
          </p:cNvPr>
          <p:cNvSpPr>
            <a:spLocks noGrp="1"/>
          </p:cNvSpPr>
          <p:nvPr/>
        </p:nvSpPr>
        <p:spPr>
          <a:xfrm>
            <a:off x="4314825" y="5228701"/>
            <a:ext cx="3562350" cy="5258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68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568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568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Surface before packaging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C665F8C-4C23-4295-8A6A-44B157EED8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640" b="4640"/>
          <a:stretch>
            <a:fillRect/>
          </a:stretch>
        </p:blipFill>
        <p:spPr>
          <a:xfrm>
            <a:off x="8153400" y="2780586"/>
            <a:ext cx="3562350" cy="1818846"/>
          </a:xfrm>
          <a:prstGeom prst="roundRect">
            <a:avLst>
              <a:gd name="adj" fmla="val 12568"/>
            </a:avLst>
          </a:prstGeom>
        </p:spPr>
      </p:pic>
      <p:sp>
        <p:nvSpPr>
          <p:cNvPr id="22" name="Zakład obróbki drewna">
            <a:extLst>
              <a:ext uri="{FF2B5EF4-FFF2-40B4-BE49-F238E27FC236}">
                <a16:creationId xmlns:a16="http://schemas.microsoft.com/office/drawing/2014/main" id="{9300C1D4-41BF-4B72-93A0-4869A919945F}"/>
              </a:ext>
            </a:extLst>
          </p:cNvPr>
          <p:cNvSpPr>
            <a:spLocks noGrp="1"/>
          </p:cNvSpPr>
          <p:nvPr/>
        </p:nvSpPr>
        <p:spPr>
          <a:xfrm>
            <a:off x="8153400" y="4797695"/>
            <a:ext cx="3562350" cy="3879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99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Wood processing facility</a:t>
            </a:r>
          </a:p>
        </p:txBody>
      </p:sp>
      <p:sp>
        <p:nvSpPr>
          <p:cNvPr id="23" name="Materiał przed wyborem do mebli">
            <a:extLst>
              <a:ext uri="{FF2B5EF4-FFF2-40B4-BE49-F238E27FC236}">
                <a16:creationId xmlns:a16="http://schemas.microsoft.com/office/drawing/2014/main" id="{0471DE25-F2FE-4221-BD3F-C469D1A871CC}"/>
              </a:ext>
            </a:extLst>
          </p:cNvPr>
          <p:cNvSpPr>
            <a:spLocks noGrp="1"/>
          </p:cNvSpPr>
          <p:nvPr/>
        </p:nvSpPr>
        <p:spPr>
          <a:xfrm>
            <a:off x="8153400" y="5228701"/>
            <a:ext cx="3562350" cy="5258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68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568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568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Material before furniture selection</a:t>
            </a:r>
          </a:p>
        </p:txBody>
      </p:sp>
      <p:sp>
        <p:nvSpPr>
          <p:cNvPr id="24" name="Scenariusz zastosowania aplikacji mlops_anomaly_detection">
            <a:extLst>
              <a:ext uri="{FF2B5EF4-FFF2-40B4-BE49-F238E27FC236}">
                <a16:creationId xmlns:a16="http://schemas.microsoft.com/office/drawing/2014/main" id="{01F04CE7-7624-4A39-B21A-41EC36A8B4E1}"/>
              </a:ext>
            </a:extLst>
          </p:cNvPr>
          <p:cNvSpPr>
            <a:spLocks noGrp="1"/>
          </p:cNvSpPr>
          <p:nvPr/>
        </p:nvSpPr>
        <p:spPr>
          <a:xfrm>
            <a:off x="476250" y="5918311"/>
            <a:ext cx="9525000" cy="4062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8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28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282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Illustrative use-case scenario for the mlops_anomaly_detection application.</a:t>
            </a:r>
          </a:p>
        </p:txBody>
      </p:sp>
      <p:pic>
        <p:nvPicPr>
          <p:cNvPr id="27" name="Sorbonne logo">
            <a:extLst>
              <a:ext uri="{FF2B5EF4-FFF2-40B4-BE49-F238E27FC236}">
                <a16:creationId xmlns:a16="http://schemas.microsoft.com/office/drawing/2014/main" id="{A36EE845-9919-205E-D705-5E9CB1D06F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28" name="CERTIFICATION EXAM  /  MLOPS">
            <a:extLst>
              <a:ext uri="{FF2B5EF4-FFF2-40B4-BE49-F238E27FC236}">
                <a16:creationId xmlns:a16="http://schemas.microsoft.com/office/drawing/2014/main" id="{93A5EE62-B27C-4D4B-9756-D9E5D2309951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241914646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558214-91C5-47F1-A917-740D12C20398}"/>
              </a:ext>
            </a:extLst>
          </p:cNvPr>
          <p:cNvCxnSpPr>
            <a:stCxn id="37" idx="3"/>
            <a:endCxn id="40" idx="1"/>
          </p:cNvCxnSpPr>
          <p:nvPr/>
        </p:nvCxnSpPr>
        <p:spPr>
          <a:xfrm>
            <a:off x="7791450" y="4840796"/>
            <a:ext cx="781050" cy="0"/>
          </a:xfrm>
          <a:prstGeom prst="straightConnector1">
            <a:avLst/>
          </a:prstGeom>
          <a:ln w="19050">
            <a:solidFill>
              <a:srgbClr val="56519A"/>
            </a:solidFill>
            <a:prstDash val="solid"/>
            <a:tailEnd type="triangle" w="sm" len="sm"/>
          </a:ln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4EE3DB-A018-4228-9485-AA55ADF41623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>
            <a:off x="7791450" y="3780520"/>
            <a:ext cx="781050" cy="0"/>
          </a:xfrm>
          <a:prstGeom prst="straightConnector1">
            <a:avLst/>
          </a:prstGeom>
          <a:ln w="19050">
            <a:solidFill>
              <a:srgbClr val="56519A"/>
            </a:solidFill>
            <a:prstDash val="solid"/>
            <a:tailEnd type="triangle" w="sm" len="sm"/>
          </a:ln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F08E7A-2374-4F0C-BC2C-41C58897C6AB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>
            <a:off x="7791450" y="2720245"/>
            <a:ext cx="781050" cy="0"/>
          </a:xfrm>
          <a:prstGeom prst="straightConnector1">
            <a:avLst/>
          </a:prstGeom>
          <a:ln w="19050">
            <a:solidFill>
              <a:srgbClr val="56519A"/>
            </a:solidFill>
            <a:prstDash val="solid"/>
            <a:tailEnd type="triangle" w="sm" len="sm"/>
          </a:ln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A1F8E28-2BBE-43DE-9336-B2558FC891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9A6EBA-BCE8-44CB-9756-3917A0AC5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E579FB21-840B-41DC-A796-3BC5F370966D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HISTORIA WDROŻENIA">
            <a:extLst>
              <a:ext uri="{FF2B5EF4-FFF2-40B4-BE49-F238E27FC236}">
                <a16:creationId xmlns:a16="http://schemas.microsoft.com/office/drawing/2014/main" id="{64CAA633-E487-4DA2-B186-630ED8A50DA2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USE-CASE SCENARIO</a:t>
            </a:r>
          </a:p>
        </p:txBody>
      </p:sp>
      <p:sp>
        <p:nvSpPr>
          <p:cNvPr id="9" name="Kamery obserwują ustalone punkty kontroli">
            <a:extLst>
              <a:ext uri="{FF2B5EF4-FFF2-40B4-BE49-F238E27FC236}">
                <a16:creationId xmlns:a16="http://schemas.microsoft.com/office/drawing/2014/main" id="{2D42040D-F36B-4E60-85C5-DD6EFE76871A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lang="pl-PL" sz="2925" b="1" dirty="0">
                <a:solidFill>
                  <a:srgbClr val="37377F"/>
                </a:solidFill>
                <a:latin typeface="Aptos"/>
                <a:ea typeface="Aptos"/>
                <a:cs typeface="Aptos"/>
              </a:rPr>
              <a:t>Fixed cameras capture images at defined inspection points.</a:t>
            </a:r>
            <a:endParaRPr sz="2925" b="1" dirty="0">
              <a:solidFill>
                <a:srgbClr val="37377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766B6C-6474-4FDD-9C70-D4FC0B940D6C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D96B5582-D374-4F7B-B249-6C767E7DC096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AC8B3063-263F-46DB-9DE5-C9C604570219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05 / 26">
            <a:extLst>
              <a:ext uri="{FF2B5EF4-FFF2-40B4-BE49-F238E27FC236}">
                <a16:creationId xmlns:a16="http://schemas.microsoft.com/office/drawing/2014/main" id="{663B88CB-2F3A-4F7F-BB8B-5376CA95C858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 / 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EF31AA-AF3D-4EA5-8666-9DA73A6A7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8779" y="2315099"/>
            <a:ext cx="810292" cy="810292"/>
          </a:xfrm>
          <a:prstGeom prst="ellipse">
            <a:avLst/>
          </a:prstGeom>
        </p:spPr>
      </p:pic>
      <p:sp>
        <p:nvSpPr>
          <p:cNvPr id="15" name="BUTELKI">
            <a:extLst>
              <a:ext uri="{FF2B5EF4-FFF2-40B4-BE49-F238E27FC236}">
                <a16:creationId xmlns:a16="http://schemas.microsoft.com/office/drawing/2014/main" id="{B9A783CF-E88C-4AD0-A4B4-D47556AF6A09}"/>
              </a:ext>
            </a:extLst>
          </p:cNvPr>
          <p:cNvSpPr>
            <a:spLocks noGrp="1"/>
          </p:cNvSpPr>
          <p:nvPr/>
        </p:nvSpPr>
        <p:spPr>
          <a:xfrm>
            <a:off x="1609725" y="2349579"/>
            <a:ext cx="1905000" cy="21550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4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14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BOTTLES</a:t>
            </a:r>
          </a:p>
        </p:txBody>
      </p:sp>
      <p:sp>
        <p:nvSpPr>
          <p:cNvPr id="16" name="Wyprodukowana butelka">
            <a:extLst>
              <a:ext uri="{FF2B5EF4-FFF2-40B4-BE49-F238E27FC236}">
                <a16:creationId xmlns:a16="http://schemas.microsoft.com/office/drawing/2014/main" id="{B1956D90-49B3-43F0-86D4-C744043FBC81}"/>
              </a:ext>
            </a:extLst>
          </p:cNvPr>
          <p:cNvSpPr>
            <a:spLocks noGrp="1"/>
          </p:cNvSpPr>
          <p:nvPr/>
        </p:nvSpPr>
        <p:spPr>
          <a:xfrm>
            <a:off x="1609725" y="2634044"/>
            <a:ext cx="2362200" cy="5947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1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1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710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Manufactured bottle</a:t>
            </a:r>
          </a:p>
        </p:txBody>
      </p:sp>
      <p:sp>
        <p:nvSpPr>
          <p:cNvPr id="17" name="Kamera przed wysyłką / diagram">
            <a:extLst>
              <a:ext uri="{FF2B5EF4-FFF2-40B4-BE49-F238E27FC236}">
                <a16:creationId xmlns:a16="http://schemas.microsoft.com/office/drawing/2014/main" id="{4983F4EC-B53B-4A63-84FB-7050F76FFAA3}"/>
              </a:ext>
            </a:extLst>
          </p:cNvPr>
          <p:cNvSpPr>
            <a:spLocks noGrp="1"/>
          </p:cNvSpPr>
          <p:nvPr/>
        </p:nvSpPr>
        <p:spPr>
          <a:xfrm>
            <a:off x="4419600" y="2315099"/>
            <a:ext cx="3371850" cy="810292"/>
          </a:xfrm>
          <a:prstGeom prst="roundRect">
            <a:avLst>
              <a:gd name="adj" fmla="val 25861"/>
            </a:avLst>
          </a:prstGeom>
          <a:solidFill>
            <a:srgbClr val="EAE8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Kamera przed wysyłką">
            <a:extLst>
              <a:ext uri="{FF2B5EF4-FFF2-40B4-BE49-F238E27FC236}">
                <a16:creationId xmlns:a16="http://schemas.microsoft.com/office/drawing/2014/main" id="{572EE939-6597-4252-87AB-37948E038804}"/>
              </a:ext>
            </a:extLst>
          </p:cNvPr>
          <p:cNvSpPr>
            <a:spLocks noGrp="1"/>
          </p:cNvSpPr>
          <p:nvPr/>
        </p:nvSpPr>
        <p:spPr>
          <a:xfrm>
            <a:off x="4610100" y="2461641"/>
            <a:ext cx="2990850" cy="344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52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Camera before shipping</a:t>
            </a:r>
          </a:p>
        </p:txBody>
      </p:sp>
      <p:sp>
        <p:nvSpPr>
          <p:cNvPr id="19" name="Obraz produktu">
            <a:extLst>
              <a:ext uri="{FF2B5EF4-FFF2-40B4-BE49-F238E27FC236}">
                <a16:creationId xmlns:a16="http://schemas.microsoft.com/office/drawing/2014/main" id="{695B030B-9D26-452A-BC17-45BEB398746B}"/>
              </a:ext>
            </a:extLst>
          </p:cNvPr>
          <p:cNvSpPr>
            <a:spLocks noGrp="1"/>
          </p:cNvSpPr>
          <p:nvPr/>
        </p:nvSpPr>
        <p:spPr>
          <a:xfrm>
            <a:off x="4610100" y="2823686"/>
            <a:ext cx="2990850" cy="2586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Product image</a:t>
            </a:r>
          </a:p>
        </p:txBody>
      </p:sp>
      <p:sp>
        <p:nvSpPr>
          <p:cNvPr id="20" name="Ponowna kontrola / diagram">
            <a:extLst>
              <a:ext uri="{FF2B5EF4-FFF2-40B4-BE49-F238E27FC236}">
                <a16:creationId xmlns:a16="http://schemas.microsoft.com/office/drawing/2014/main" id="{4FE72B2B-02F8-4E19-A4FF-ACFCB1B5CE56}"/>
              </a:ext>
            </a:extLst>
          </p:cNvPr>
          <p:cNvSpPr>
            <a:spLocks noGrp="1"/>
          </p:cNvSpPr>
          <p:nvPr/>
        </p:nvSpPr>
        <p:spPr>
          <a:xfrm>
            <a:off x="8572500" y="2315099"/>
            <a:ext cx="3143250" cy="810292"/>
          </a:xfrm>
          <a:prstGeom prst="roundRect">
            <a:avLst>
              <a:gd name="adj" fmla="val 25861"/>
            </a:avLst>
          </a:prstGeom>
          <a:solidFill>
            <a:srgbClr val="F8E9E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onowna kontrola">
            <a:extLst>
              <a:ext uri="{FF2B5EF4-FFF2-40B4-BE49-F238E27FC236}">
                <a16:creationId xmlns:a16="http://schemas.microsoft.com/office/drawing/2014/main" id="{EADC4989-A72B-4B8D-B5DB-98A933144E76}"/>
              </a:ext>
            </a:extLst>
          </p:cNvPr>
          <p:cNvSpPr>
            <a:spLocks noGrp="1"/>
          </p:cNvSpPr>
          <p:nvPr/>
        </p:nvSpPr>
        <p:spPr>
          <a:xfrm>
            <a:off x="8763000" y="2461641"/>
            <a:ext cx="2762250" cy="344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52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Re-inspection</a:t>
            </a:r>
          </a:p>
        </p:txBody>
      </p:sp>
      <p:sp>
        <p:nvSpPr>
          <p:cNvPr id="22" name="Sygnał z aplikacji">
            <a:extLst>
              <a:ext uri="{FF2B5EF4-FFF2-40B4-BE49-F238E27FC236}">
                <a16:creationId xmlns:a16="http://schemas.microsoft.com/office/drawing/2014/main" id="{4D87E023-164C-43E6-92B4-D74E343C01C7}"/>
              </a:ext>
            </a:extLst>
          </p:cNvPr>
          <p:cNvSpPr>
            <a:spLocks noGrp="1"/>
          </p:cNvSpPr>
          <p:nvPr/>
        </p:nvSpPr>
        <p:spPr>
          <a:xfrm>
            <a:off x="8763000" y="2823686"/>
            <a:ext cx="2762250" cy="2586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Inspection signal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5FA76B7-8F5C-4945-AC4F-480B17C44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8779" y="3375374"/>
            <a:ext cx="810292" cy="810292"/>
          </a:xfrm>
          <a:prstGeom prst="ellipse">
            <a:avLst/>
          </a:prstGeom>
        </p:spPr>
      </p:pic>
      <p:sp>
        <p:nvSpPr>
          <p:cNvPr id="25" name="TABLETKI">
            <a:extLst>
              <a:ext uri="{FF2B5EF4-FFF2-40B4-BE49-F238E27FC236}">
                <a16:creationId xmlns:a16="http://schemas.microsoft.com/office/drawing/2014/main" id="{BB592A8F-66D8-4704-ACAC-5D6C94675838}"/>
              </a:ext>
            </a:extLst>
          </p:cNvPr>
          <p:cNvSpPr>
            <a:spLocks noGrp="1"/>
          </p:cNvSpPr>
          <p:nvPr/>
        </p:nvSpPr>
        <p:spPr>
          <a:xfrm>
            <a:off x="1609725" y="3409855"/>
            <a:ext cx="1905000" cy="21550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4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14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TABLETS</a:t>
            </a:r>
          </a:p>
        </p:txBody>
      </p:sp>
      <p:sp>
        <p:nvSpPr>
          <p:cNvPr id="26" name="Gotowa tabletka">
            <a:extLst>
              <a:ext uri="{FF2B5EF4-FFF2-40B4-BE49-F238E27FC236}">
                <a16:creationId xmlns:a16="http://schemas.microsoft.com/office/drawing/2014/main" id="{9E692BC9-0C81-451D-9C8D-CA3AE32BBE66}"/>
              </a:ext>
            </a:extLst>
          </p:cNvPr>
          <p:cNvSpPr>
            <a:spLocks noGrp="1"/>
          </p:cNvSpPr>
          <p:nvPr/>
        </p:nvSpPr>
        <p:spPr>
          <a:xfrm>
            <a:off x="1609725" y="3694319"/>
            <a:ext cx="2362200" cy="5947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1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1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710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Finished tablet</a:t>
            </a:r>
          </a:p>
        </p:txBody>
      </p:sp>
      <p:sp>
        <p:nvSpPr>
          <p:cNvPr id="27" name="Kamera nad linią / diagram">
            <a:extLst>
              <a:ext uri="{FF2B5EF4-FFF2-40B4-BE49-F238E27FC236}">
                <a16:creationId xmlns:a16="http://schemas.microsoft.com/office/drawing/2014/main" id="{4CE62F87-6C35-41DD-8E40-46DDEFF71653}"/>
              </a:ext>
            </a:extLst>
          </p:cNvPr>
          <p:cNvSpPr>
            <a:spLocks noGrp="1"/>
          </p:cNvSpPr>
          <p:nvPr/>
        </p:nvSpPr>
        <p:spPr>
          <a:xfrm>
            <a:off x="4419600" y="3375374"/>
            <a:ext cx="3371850" cy="810292"/>
          </a:xfrm>
          <a:prstGeom prst="roundRect">
            <a:avLst>
              <a:gd name="adj" fmla="val 25861"/>
            </a:avLst>
          </a:prstGeom>
          <a:solidFill>
            <a:srgbClr val="EAE8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Kamera nad linią">
            <a:extLst>
              <a:ext uri="{FF2B5EF4-FFF2-40B4-BE49-F238E27FC236}">
                <a16:creationId xmlns:a16="http://schemas.microsoft.com/office/drawing/2014/main" id="{7723A5B5-94ED-4FF2-852E-7D6B8D1088AB}"/>
              </a:ext>
            </a:extLst>
          </p:cNvPr>
          <p:cNvSpPr>
            <a:spLocks noGrp="1"/>
          </p:cNvSpPr>
          <p:nvPr/>
        </p:nvSpPr>
        <p:spPr>
          <a:xfrm>
            <a:off x="4610100" y="3521916"/>
            <a:ext cx="2990850" cy="344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52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Overhead line camera</a:t>
            </a:r>
          </a:p>
        </p:txBody>
      </p:sp>
      <p:sp>
        <p:nvSpPr>
          <p:cNvPr id="29" name="Obraz produktu">
            <a:extLst>
              <a:ext uri="{FF2B5EF4-FFF2-40B4-BE49-F238E27FC236}">
                <a16:creationId xmlns:a16="http://schemas.microsoft.com/office/drawing/2014/main" id="{66519D6E-B966-4C6B-9E03-713B1BDC7987}"/>
              </a:ext>
            </a:extLst>
          </p:cNvPr>
          <p:cNvSpPr>
            <a:spLocks noGrp="1"/>
          </p:cNvSpPr>
          <p:nvPr/>
        </p:nvSpPr>
        <p:spPr>
          <a:xfrm>
            <a:off x="4610100" y="3883962"/>
            <a:ext cx="2990850" cy="2586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Product image</a:t>
            </a:r>
          </a:p>
        </p:txBody>
      </p:sp>
      <p:sp>
        <p:nvSpPr>
          <p:cNvPr id="30" name="Ocena powierzchni / diagram">
            <a:extLst>
              <a:ext uri="{FF2B5EF4-FFF2-40B4-BE49-F238E27FC236}">
                <a16:creationId xmlns:a16="http://schemas.microsoft.com/office/drawing/2014/main" id="{5DF1EF13-8690-4DB2-A304-D4659A903303}"/>
              </a:ext>
            </a:extLst>
          </p:cNvPr>
          <p:cNvSpPr>
            <a:spLocks noGrp="1"/>
          </p:cNvSpPr>
          <p:nvPr/>
        </p:nvSpPr>
        <p:spPr>
          <a:xfrm>
            <a:off x="8572500" y="3375374"/>
            <a:ext cx="3143250" cy="810292"/>
          </a:xfrm>
          <a:prstGeom prst="roundRect">
            <a:avLst>
              <a:gd name="adj" fmla="val 25861"/>
            </a:avLst>
          </a:prstGeom>
          <a:solidFill>
            <a:srgbClr val="F8E9E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Ocena powierzchni">
            <a:extLst>
              <a:ext uri="{FF2B5EF4-FFF2-40B4-BE49-F238E27FC236}">
                <a16:creationId xmlns:a16="http://schemas.microsoft.com/office/drawing/2014/main" id="{F975D6E2-E308-45BA-840C-749007A9FFDB}"/>
              </a:ext>
            </a:extLst>
          </p:cNvPr>
          <p:cNvSpPr>
            <a:spLocks noGrp="1"/>
          </p:cNvSpPr>
          <p:nvPr/>
        </p:nvSpPr>
        <p:spPr>
          <a:xfrm>
            <a:off x="8763000" y="3521916"/>
            <a:ext cx="2762250" cy="344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52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Surface assessment</a:t>
            </a:r>
          </a:p>
        </p:txBody>
      </p:sp>
      <p:sp>
        <p:nvSpPr>
          <p:cNvPr id="32" name="Sygnał z aplikacji">
            <a:extLst>
              <a:ext uri="{FF2B5EF4-FFF2-40B4-BE49-F238E27FC236}">
                <a16:creationId xmlns:a16="http://schemas.microsoft.com/office/drawing/2014/main" id="{8F48A53D-2669-4AB5-BA1F-F790B81FD383}"/>
              </a:ext>
            </a:extLst>
          </p:cNvPr>
          <p:cNvSpPr>
            <a:spLocks noGrp="1"/>
          </p:cNvSpPr>
          <p:nvPr/>
        </p:nvSpPr>
        <p:spPr>
          <a:xfrm>
            <a:off x="8763000" y="3883962"/>
            <a:ext cx="2762250" cy="2586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Inspection signal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C39AE92-1ACD-4805-A3D1-5FE8C197D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18779" y="4435650"/>
            <a:ext cx="810292" cy="810292"/>
          </a:xfrm>
          <a:prstGeom prst="ellipse">
            <a:avLst/>
          </a:prstGeom>
        </p:spPr>
      </p:pic>
      <p:sp>
        <p:nvSpPr>
          <p:cNvPr id="35" name="DREWNO">
            <a:extLst>
              <a:ext uri="{FF2B5EF4-FFF2-40B4-BE49-F238E27FC236}">
                <a16:creationId xmlns:a16="http://schemas.microsoft.com/office/drawing/2014/main" id="{A9AA7FBC-6F3C-47CC-A969-C4F0683137D8}"/>
              </a:ext>
            </a:extLst>
          </p:cNvPr>
          <p:cNvSpPr>
            <a:spLocks noGrp="1"/>
          </p:cNvSpPr>
          <p:nvPr/>
        </p:nvSpPr>
        <p:spPr>
          <a:xfrm>
            <a:off x="1609725" y="4470130"/>
            <a:ext cx="1905000" cy="21550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4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14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WOOD</a:t>
            </a:r>
          </a:p>
        </p:txBody>
      </p:sp>
      <p:sp>
        <p:nvSpPr>
          <p:cNvPr id="36" name="Obrobiona powierzchnia">
            <a:extLst>
              <a:ext uri="{FF2B5EF4-FFF2-40B4-BE49-F238E27FC236}">
                <a16:creationId xmlns:a16="http://schemas.microsoft.com/office/drawing/2014/main" id="{68BAC290-5CD7-4C49-8B05-AABE40FD633A}"/>
              </a:ext>
            </a:extLst>
          </p:cNvPr>
          <p:cNvSpPr>
            <a:spLocks noGrp="1"/>
          </p:cNvSpPr>
          <p:nvPr/>
        </p:nvSpPr>
        <p:spPr>
          <a:xfrm>
            <a:off x="1609725" y="4754594"/>
            <a:ext cx="2362200" cy="5947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1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1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710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Machined surface</a:t>
            </a:r>
          </a:p>
        </p:txBody>
      </p:sp>
      <p:sp>
        <p:nvSpPr>
          <p:cNvPr id="37" name="Kamera przed selekcją / diagram">
            <a:extLst>
              <a:ext uri="{FF2B5EF4-FFF2-40B4-BE49-F238E27FC236}">
                <a16:creationId xmlns:a16="http://schemas.microsoft.com/office/drawing/2014/main" id="{40E09B31-8992-468B-B925-5951F15AB932}"/>
              </a:ext>
            </a:extLst>
          </p:cNvPr>
          <p:cNvSpPr>
            <a:spLocks noGrp="1"/>
          </p:cNvSpPr>
          <p:nvPr/>
        </p:nvSpPr>
        <p:spPr>
          <a:xfrm>
            <a:off x="4419600" y="4435650"/>
            <a:ext cx="3371850" cy="810292"/>
          </a:xfrm>
          <a:prstGeom prst="roundRect">
            <a:avLst>
              <a:gd name="adj" fmla="val 25861"/>
            </a:avLst>
          </a:prstGeom>
          <a:solidFill>
            <a:srgbClr val="EAE8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Kamera przed selekcją">
            <a:extLst>
              <a:ext uri="{FF2B5EF4-FFF2-40B4-BE49-F238E27FC236}">
                <a16:creationId xmlns:a16="http://schemas.microsoft.com/office/drawing/2014/main" id="{57B2AF4C-B990-4726-9953-1E7808F0F87B}"/>
              </a:ext>
            </a:extLst>
          </p:cNvPr>
          <p:cNvSpPr>
            <a:spLocks noGrp="1"/>
          </p:cNvSpPr>
          <p:nvPr/>
        </p:nvSpPr>
        <p:spPr>
          <a:xfrm>
            <a:off x="4610100" y="4582192"/>
            <a:ext cx="2990850" cy="344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52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Camera before sorting</a:t>
            </a:r>
          </a:p>
        </p:txBody>
      </p:sp>
      <p:sp>
        <p:nvSpPr>
          <p:cNvPr id="39" name="Obraz produktu">
            <a:extLst>
              <a:ext uri="{FF2B5EF4-FFF2-40B4-BE49-F238E27FC236}">
                <a16:creationId xmlns:a16="http://schemas.microsoft.com/office/drawing/2014/main" id="{C67A90A9-4C28-4E29-B273-BB08FCA3E4D7}"/>
              </a:ext>
            </a:extLst>
          </p:cNvPr>
          <p:cNvSpPr>
            <a:spLocks noGrp="1"/>
          </p:cNvSpPr>
          <p:nvPr/>
        </p:nvSpPr>
        <p:spPr>
          <a:xfrm>
            <a:off x="4610100" y="4944237"/>
            <a:ext cx="2990850" cy="2586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Product image</a:t>
            </a:r>
          </a:p>
        </p:txBody>
      </p:sp>
      <p:sp>
        <p:nvSpPr>
          <p:cNvPr id="40" name="Ocena materiału / diagram">
            <a:extLst>
              <a:ext uri="{FF2B5EF4-FFF2-40B4-BE49-F238E27FC236}">
                <a16:creationId xmlns:a16="http://schemas.microsoft.com/office/drawing/2014/main" id="{7480AB93-0028-40AA-8112-D50BBC077EDC}"/>
              </a:ext>
            </a:extLst>
          </p:cNvPr>
          <p:cNvSpPr>
            <a:spLocks noGrp="1"/>
          </p:cNvSpPr>
          <p:nvPr/>
        </p:nvSpPr>
        <p:spPr>
          <a:xfrm>
            <a:off x="8572500" y="4435650"/>
            <a:ext cx="3143250" cy="810292"/>
          </a:xfrm>
          <a:prstGeom prst="roundRect">
            <a:avLst>
              <a:gd name="adj" fmla="val 25861"/>
            </a:avLst>
          </a:prstGeom>
          <a:solidFill>
            <a:srgbClr val="F8E9E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Ocena materiału">
            <a:extLst>
              <a:ext uri="{FF2B5EF4-FFF2-40B4-BE49-F238E27FC236}">
                <a16:creationId xmlns:a16="http://schemas.microsoft.com/office/drawing/2014/main" id="{D5D9734E-7074-43BA-95BE-FA71DBC5198D}"/>
              </a:ext>
            </a:extLst>
          </p:cNvPr>
          <p:cNvSpPr>
            <a:spLocks noGrp="1"/>
          </p:cNvSpPr>
          <p:nvPr/>
        </p:nvSpPr>
        <p:spPr>
          <a:xfrm>
            <a:off x="8763000" y="4582192"/>
            <a:ext cx="2762250" cy="344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52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Material assessment</a:t>
            </a:r>
          </a:p>
        </p:txBody>
      </p:sp>
      <p:sp>
        <p:nvSpPr>
          <p:cNvPr id="42" name="Sygnał z aplikacji">
            <a:extLst>
              <a:ext uri="{FF2B5EF4-FFF2-40B4-BE49-F238E27FC236}">
                <a16:creationId xmlns:a16="http://schemas.microsoft.com/office/drawing/2014/main" id="{9915EB93-E54E-47B2-9597-C99DEC576ACF}"/>
              </a:ext>
            </a:extLst>
          </p:cNvPr>
          <p:cNvSpPr>
            <a:spLocks noGrp="1"/>
          </p:cNvSpPr>
          <p:nvPr/>
        </p:nvSpPr>
        <p:spPr>
          <a:xfrm>
            <a:off x="8763000" y="4944237"/>
            <a:ext cx="2762250" cy="2586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42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Inspection signal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79135C-F380-4179-AFC0-87C78AED9FB8}"/>
              </a:ext>
            </a:extLst>
          </p:cNvPr>
          <p:cNvSpPr>
            <a:spLocks noGrp="1"/>
          </p:cNvSpPr>
          <p:nvPr/>
        </p:nvSpPr>
        <p:spPr>
          <a:xfrm>
            <a:off x="476250" y="5745909"/>
            <a:ext cx="666750" cy="10344"/>
          </a:xfrm>
          <a:prstGeom prst="rect">
            <a:avLst/>
          </a:prstGeom>
          <a:solidFill>
            <a:srgbClr val="E6B0A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Stały kadr i oświetlenie tworzą porównywalne zdjęcia.">
            <a:extLst>
              <a:ext uri="{FF2B5EF4-FFF2-40B4-BE49-F238E27FC236}">
                <a16:creationId xmlns:a16="http://schemas.microsoft.com/office/drawing/2014/main" id="{2EF5AF07-7C64-4D4D-B6B2-134FCB6D701C}"/>
              </a:ext>
            </a:extLst>
          </p:cNvPr>
          <p:cNvSpPr>
            <a:spLocks noGrp="1"/>
          </p:cNvSpPr>
          <p:nvPr/>
        </p:nvSpPr>
        <p:spPr>
          <a:xfrm>
            <a:off x="1362075" y="5607987"/>
            <a:ext cx="10353675" cy="5344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81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81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781" b="1" dirty="0" err="1">
                <a:solidFill>
                  <a:srgbClr val="37377F"/>
                </a:solidFill>
                <a:latin typeface="Aptos"/>
                <a:ea typeface="Aptos"/>
                <a:cs typeface="Aptos"/>
              </a:rPr>
              <a:t>Fixed framing and lighting produce comparable images.</a:t>
            </a:r>
          </a:p>
        </p:txBody>
      </p:sp>
      <p:pic>
        <p:nvPicPr>
          <p:cNvPr id="49" name="Sorbonne logo">
            <a:extLst>
              <a:ext uri="{FF2B5EF4-FFF2-40B4-BE49-F238E27FC236}">
                <a16:creationId xmlns:a16="http://schemas.microsoft.com/office/drawing/2014/main" id="{1341B61F-4F88-82BD-8DE8-3EDA01FC6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50" name="CERTIFICATION EXAM  /  MLOPS">
            <a:extLst>
              <a:ext uri="{FF2B5EF4-FFF2-40B4-BE49-F238E27FC236}">
                <a16:creationId xmlns:a16="http://schemas.microsoft.com/office/drawing/2014/main" id="{E2C38EA1-EF13-498F-9A35-7C32F4116FF3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3862554724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174BE6D-C76E-415E-8DF7-3F0832C7D4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059938-D5B1-4720-9A92-DCA9D98D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36C7E26E-B7CE-44F0-9C86-0B7396041264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MECHANIZM MLOPS">
            <a:extLst>
              <a:ext uri="{FF2B5EF4-FFF2-40B4-BE49-F238E27FC236}">
                <a16:creationId xmlns:a16="http://schemas.microsoft.com/office/drawing/2014/main" id="{1BDE5CD3-9E87-44ED-BDE4-6AA84456E3B1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9" name="Trening i predykcja tworzą wspólny proces">
            <a:extLst>
              <a:ext uri="{FF2B5EF4-FFF2-40B4-BE49-F238E27FC236}">
                <a16:creationId xmlns:a16="http://schemas.microsoft.com/office/drawing/2014/main" id="{A50EB252-BCEC-4566-AA6C-B42EC15479BC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System architecture: from data to prediction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78CF1F-2B16-492D-A4A6-C494A30A779F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A3259983-4BE1-4945-8660-EDA402FB348F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530C2A13-C3B4-4D75-94B2-58B31AF5F658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06 / 26">
            <a:extLst>
              <a:ext uri="{FF2B5EF4-FFF2-40B4-BE49-F238E27FC236}">
                <a16:creationId xmlns:a16="http://schemas.microsoft.com/office/drawing/2014/main" id="{8C46E66F-5760-4954-BDA8-B9AA577BED0A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 / 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Training and serving use shared infrastructure but follow distinct workflows</a:t>
            </a:r>
          </a:p>
        </p:txBody>
      </p:sp>
      <p:sp>
        <p:nvSpPr>
          <p:cNvPr id="49" name="PostgreSQL"/>
          <p:cNvSpPr/>
          <p:nvPr/>
        </p:nvSpPr>
        <p:spPr>
          <a:xfrm>
            <a:off x="475488" y="2432304"/>
            <a:ext cx="2240280" cy="786384"/>
          </a:xfrm>
          <a:prstGeom prst="roundRect">
            <a:avLst>
              <a:gd name="adj" fmla="val 1860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PostgreSQL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Image metadata</a:t>
            </a:r>
          </a:p>
        </p:txBody>
      </p:sp>
      <p:sp>
        <p:nvSpPr>
          <p:cNvPr id="50" name="Airflow"/>
          <p:cNvSpPr/>
          <p:nvPr/>
        </p:nvSpPr>
        <p:spPr>
          <a:xfrm>
            <a:off x="475488" y="3840480"/>
            <a:ext cx="2240280" cy="786384"/>
          </a:xfrm>
          <a:prstGeom prst="roundRect">
            <a:avLst>
              <a:gd name="adj" fmla="val 1860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Airflow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Schedule / release</a:t>
            </a:r>
          </a:p>
        </p:txBody>
      </p:sp>
      <p:sp>
        <p:nvSpPr>
          <p:cNvPr id="51" name="FastAPI"/>
          <p:cNvSpPr/>
          <p:nvPr/>
        </p:nvSpPr>
        <p:spPr>
          <a:xfrm>
            <a:off x="3547872" y="3136392"/>
            <a:ext cx="2240280" cy="786384"/>
          </a:xfrm>
          <a:prstGeom prst="roundRect">
            <a:avLst>
              <a:gd name="adj" fmla="val 18604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FastAPI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HTTP endpoints</a:t>
            </a:r>
          </a:p>
        </p:txBody>
      </p:sp>
      <p:sp>
        <p:nvSpPr>
          <p:cNvPr id="52" name="TensorFlow"/>
          <p:cNvSpPr/>
          <p:nvPr/>
        </p:nvSpPr>
        <p:spPr>
          <a:xfrm>
            <a:off x="6601968" y="2432304"/>
            <a:ext cx="2240280" cy="786384"/>
          </a:xfrm>
          <a:prstGeom prst="roundRect">
            <a:avLst>
              <a:gd name="adj" fmla="val 1860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TensorFlow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CAE training</a:t>
            </a:r>
          </a:p>
        </p:txBody>
      </p:sp>
      <p:sp>
        <p:nvSpPr>
          <p:cNvPr id="53" name="MLflow"/>
          <p:cNvSpPr/>
          <p:nvPr/>
        </p:nvSpPr>
        <p:spPr>
          <a:xfrm>
            <a:off x="9473184" y="2432304"/>
            <a:ext cx="2240280" cy="786384"/>
          </a:xfrm>
          <a:prstGeom prst="roundRect">
            <a:avLst>
              <a:gd name="adj" fmla="val 1860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MLflow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Run + Champion</a:t>
            </a:r>
          </a:p>
        </p:txBody>
      </p:sp>
      <p:sp>
        <p:nvSpPr>
          <p:cNvPr id="54" name="Prediction"/>
          <p:cNvSpPr/>
          <p:nvPr/>
        </p:nvSpPr>
        <p:spPr>
          <a:xfrm>
            <a:off x="6601968" y="3840480"/>
            <a:ext cx="2240280" cy="786384"/>
          </a:xfrm>
          <a:prstGeom prst="roundRect">
            <a:avLst>
              <a:gd name="adj" fmla="val 1860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Prediction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Champion inference</a:t>
            </a:r>
          </a:p>
        </p:txBody>
      </p:sp>
      <p:sp>
        <p:nvSpPr>
          <p:cNvPr id="55" name="Streamlit"/>
          <p:cNvSpPr/>
          <p:nvPr/>
        </p:nvSpPr>
        <p:spPr>
          <a:xfrm>
            <a:off x="9473184" y="3840480"/>
            <a:ext cx="2240280" cy="786384"/>
          </a:xfrm>
          <a:prstGeom prst="roundRect">
            <a:avLst>
              <a:gd name="adj" fmla="val 1860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Streamlit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Demo / results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761488" y="2889504"/>
            <a:ext cx="740664" cy="475488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57" name="Connector 56"/>
          <p:cNvCxnSpPr/>
          <p:nvPr/>
        </p:nvCxnSpPr>
        <p:spPr>
          <a:xfrm flipV="1">
            <a:off x="2761488" y="3694176"/>
            <a:ext cx="740664" cy="475488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58" name="Connector 57"/>
          <p:cNvCxnSpPr/>
          <p:nvPr/>
        </p:nvCxnSpPr>
        <p:spPr>
          <a:xfrm flipV="1">
            <a:off x="5833872" y="2889504"/>
            <a:ext cx="722376" cy="475488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59" name="Connector 58"/>
          <p:cNvCxnSpPr/>
          <p:nvPr/>
        </p:nvCxnSpPr>
        <p:spPr>
          <a:xfrm>
            <a:off x="8887968" y="2825496"/>
            <a:ext cx="539495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60" name="Connector 59"/>
          <p:cNvCxnSpPr/>
          <p:nvPr/>
        </p:nvCxnSpPr>
        <p:spPr>
          <a:xfrm flipH="1">
            <a:off x="8613648" y="3255264"/>
            <a:ext cx="1179576" cy="54864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61" name="Connector 60"/>
          <p:cNvCxnSpPr/>
          <p:nvPr/>
        </p:nvCxnSpPr>
        <p:spPr>
          <a:xfrm flipH="1">
            <a:off x="8887968" y="4233672"/>
            <a:ext cx="539495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62" name="Connector 61"/>
          <p:cNvCxnSpPr/>
          <p:nvPr/>
        </p:nvCxnSpPr>
        <p:spPr>
          <a:xfrm flipH="1" flipV="1">
            <a:off x="5833872" y="3694176"/>
            <a:ext cx="722376" cy="475488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63" name="TextBox 62"/>
          <p:cNvSpPr txBox="1"/>
          <p:nvPr/>
        </p:nvSpPr>
        <p:spPr>
          <a:xfrm>
            <a:off x="475488" y="49651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706AB0"/>
                </a:solidFill>
                <a:latin typeface="Aptos"/>
              </a:rPr>
              <a:t>DATA MONITORING</a:t>
            </a:r>
          </a:p>
        </p:txBody>
      </p:sp>
      <p:sp>
        <p:nvSpPr>
          <p:cNvPr id="64" name="card"/>
          <p:cNvSpPr/>
          <p:nvPr/>
        </p:nvSpPr>
        <p:spPr>
          <a:xfrm>
            <a:off x="3547872" y="4901184"/>
            <a:ext cx="2240280" cy="365760"/>
          </a:xfrm>
          <a:prstGeom prst="roundRect">
            <a:avLst>
              <a:gd name="adj" fmla="val 40000"/>
            </a:avLst>
          </a:prstGeom>
          <a:solidFill>
            <a:srgbClr val="F8E9E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37377F"/>
                </a:solidFill>
                <a:latin typeface="Aptos"/>
              </a:rPr>
              <a:t>Prediction logs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33872" y="5084064"/>
            <a:ext cx="630935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66" name="card"/>
          <p:cNvSpPr/>
          <p:nvPr/>
        </p:nvSpPr>
        <p:spPr>
          <a:xfrm>
            <a:off x="6510527" y="4901184"/>
            <a:ext cx="2240280" cy="365760"/>
          </a:xfrm>
          <a:prstGeom prst="roundRect">
            <a:avLst>
              <a:gd name="adj" fmla="val 40000"/>
            </a:avLst>
          </a:prstGeom>
          <a:solidFill>
            <a:srgbClr val="F8E9E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37377F"/>
                </a:solidFill>
                <a:latin typeface="Aptos"/>
              </a:rPr>
              <a:t>Evidently / PostgreSQL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796528" y="5084064"/>
            <a:ext cx="630935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68" name="card"/>
          <p:cNvSpPr/>
          <p:nvPr/>
        </p:nvSpPr>
        <p:spPr>
          <a:xfrm>
            <a:off x="9473184" y="4901184"/>
            <a:ext cx="2240280" cy="365760"/>
          </a:xfrm>
          <a:prstGeom prst="roundRect">
            <a:avLst>
              <a:gd name="adj" fmla="val 40000"/>
            </a:avLst>
          </a:prstGeom>
          <a:solidFill>
            <a:srgbClr val="F8E9E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37377F"/>
                </a:solidFill>
                <a:latin typeface="Aptos"/>
              </a:rPr>
              <a:t>Grafana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544068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706AB0"/>
                </a:solidFill>
                <a:latin typeface="Aptos"/>
              </a:rPr>
              <a:t>PERFORMANCE</a:t>
            </a:r>
          </a:p>
        </p:txBody>
      </p:sp>
      <p:sp>
        <p:nvSpPr>
          <p:cNvPr id="70" name="card"/>
          <p:cNvSpPr/>
          <p:nvPr/>
        </p:nvSpPr>
        <p:spPr>
          <a:xfrm>
            <a:off x="3547872" y="5376672"/>
            <a:ext cx="2240280" cy="365760"/>
          </a:xfrm>
          <a:prstGeom prst="roundRect">
            <a:avLst>
              <a:gd name="adj" fmla="val 40000"/>
            </a:avLst>
          </a:prstGeom>
          <a:solidFill>
            <a:srgbClr val="F8E9E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37377F"/>
                </a:solidFill>
                <a:latin typeface="Aptos"/>
              </a:rPr>
              <a:t>FastAPI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33872" y="5559552"/>
            <a:ext cx="630935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72" name="card"/>
          <p:cNvSpPr/>
          <p:nvPr/>
        </p:nvSpPr>
        <p:spPr>
          <a:xfrm>
            <a:off x="6510527" y="5376672"/>
            <a:ext cx="2240280" cy="365760"/>
          </a:xfrm>
          <a:prstGeom prst="roundRect">
            <a:avLst>
              <a:gd name="adj" fmla="val 40000"/>
            </a:avLst>
          </a:prstGeom>
          <a:solidFill>
            <a:srgbClr val="F8E9E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37377F"/>
                </a:solidFill>
                <a:latin typeface="Aptos"/>
              </a:rPr>
              <a:t>Prometheus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796528" y="5559552"/>
            <a:ext cx="630935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74" name="card"/>
          <p:cNvSpPr/>
          <p:nvPr/>
        </p:nvSpPr>
        <p:spPr>
          <a:xfrm>
            <a:off x="9473184" y="5376672"/>
            <a:ext cx="2240280" cy="365760"/>
          </a:xfrm>
          <a:prstGeom prst="roundRect">
            <a:avLst>
              <a:gd name="adj" fmla="val 40000"/>
            </a:avLst>
          </a:prstGeom>
          <a:solidFill>
            <a:srgbClr val="F8E9E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/>
            <a:r>
              <a:rPr sz="1250" b="1" i="0">
                <a:solidFill>
                  <a:srgbClr val="37377F"/>
                </a:solidFill>
                <a:latin typeface="Aptos"/>
              </a:rPr>
              <a:t>Grafana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docker-compose.yml, airflow/dags, api/main.py, src/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0B0AC076-6A0C-DA81-56FF-CBC6B5273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EF45A882-880E-4B32-B3B3-CC4253CC0FD7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262097096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E86861E-609A-4ACA-9D89-27F6086339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BC9528-3893-45D1-97B5-01BC1664B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8460E890-8462-4189-9C4C-08BD3F010FAC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ARCHITEKTURA MODELU">
            <a:extLst>
              <a:ext uri="{FF2B5EF4-FFF2-40B4-BE49-F238E27FC236}">
                <a16:creationId xmlns:a16="http://schemas.microsoft.com/office/drawing/2014/main" id="{99ED8246-870E-40CD-80E1-1BADB49AA06E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MODEL ARCHITECTURE</a:t>
            </a:r>
          </a:p>
        </p:txBody>
      </p:sp>
      <p:sp>
        <p:nvSpPr>
          <p:cNvPr id="9" name="Convolutional Autoencoder">
            <a:extLst>
              <a:ext uri="{FF2B5EF4-FFF2-40B4-BE49-F238E27FC236}">
                <a16:creationId xmlns:a16="http://schemas.microsoft.com/office/drawing/2014/main" id="{970D0392-3022-4C84-ABD4-2901D2310083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Convolutional Autoencoder: 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B9A1B0-E452-4422-9A5A-C0916E4AA8EA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89592C69-163B-47DD-B4FF-A900051B62EF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075F0705-C7A0-43BA-A7B8-ED7A27A94D07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07 / 26">
            <a:extLst>
              <a:ext uri="{FF2B5EF4-FFF2-40B4-BE49-F238E27FC236}">
                <a16:creationId xmlns:a16="http://schemas.microsoft.com/office/drawing/2014/main" id="{6C115FFE-2A68-45BC-A88F-5D9F8C0CA24B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 / 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Image data are the starting point of the complete MLOps workflow</a:t>
            </a:r>
          </a:p>
        </p:txBody>
      </p:sp>
      <p:sp>
        <p:nvSpPr>
          <p:cNvPr id="34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MVTec AD images: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Bottle, Wood and Pill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6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Separate normal and defective images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Copy data into project structure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8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Training: only normal images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Test: normal + defective images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3538728"/>
            <a:ext cx="11237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COMPRESS A 128 × 128 RGB IMAGE INTO LATENT FEATURES, THEN RECONSTRUCT IT</a:t>
            </a:r>
          </a:p>
        </p:txBody>
      </p:sp>
      <p:sp>
        <p:nvSpPr>
          <p:cNvPr id="40" name="Wejście"/>
          <p:cNvSpPr/>
          <p:nvPr/>
        </p:nvSpPr>
        <p:spPr>
          <a:xfrm>
            <a:off x="475488" y="3813048"/>
            <a:ext cx="1644395" cy="822960"/>
          </a:xfrm>
          <a:prstGeom prst="roundRect">
            <a:avLst>
              <a:gd name="adj" fmla="val 17777"/>
            </a:avLst>
          </a:prstGeom>
          <a:solidFill>
            <a:srgbClr val="EAE8F5"/>
          </a:solidFill>
          <a:ln>
            <a:noFill/>
          </a:ln>
        </p:spPr>
        <p:txBody>
          <a:bodyPr wrap="square" lIns="128016" tIns="91440" bIns="54864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128×128×3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147316" y="4224528"/>
            <a:ext cx="219456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2" name="Encoder"/>
          <p:cNvSpPr/>
          <p:nvPr/>
        </p:nvSpPr>
        <p:spPr>
          <a:xfrm>
            <a:off x="2394204" y="3813048"/>
            <a:ext cx="1644395" cy="822960"/>
          </a:xfrm>
          <a:prstGeom prst="roundRect">
            <a:avLst>
              <a:gd name="adj" fmla="val 17777"/>
            </a:avLst>
          </a:prstGeom>
          <a:solidFill>
            <a:srgbClr val="EAE8F5"/>
          </a:solidFill>
          <a:ln>
            <a:noFill/>
          </a:ln>
        </p:spPr>
        <p:txBody>
          <a:bodyPr wrap="square" lIns="128016" tIns="91440" bIns="54864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Encoder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Conv 32/64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Pooling ×2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66031" y="4224528"/>
            <a:ext cx="219456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4" name="Encoder"/>
          <p:cNvSpPr/>
          <p:nvPr/>
        </p:nvSpPr>
        <p:spPr>
          <a:xfrm>
            <a:off x="4312920" y="3813048"/>
            <a:ext cx="1644395" cy="822960"/>
          </a:xfrm>
          <a:prstGeom prst="roundRect">
            <a:avLst>
              <a:gd name="adj" fmla="val 17777"/>
            </a:avLst>
          </a:prstGeom>
          <a:solidFill>
            <a:srgbClr val="EAE8F5"/>
          </a:solidFill>
          <a:ln>
            <a:noFill/>
          </a:ln>
        </p:spPr>
        <p:txBody>
          <a:bodyPr wrap="square" lIns="128016" tIns="91440" bIns="54864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Encoder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Conv 128/256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Pooling ×2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84748" y="4224528"/>
            <a:ext cx="219455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6" name="Latent"/>
          <p:cNvSpPr/>
          <p:nvPr/>
        </p:nvSpPr>
        <p:spPr>
          <a:xfrm>
            <a:off x="6231636" y="3813048"/>
            <a:ext cx="1644395" cy="822960"/>
          </a:xfrm>
          <a:prstGeom prst="roundRect">
            <a:avLst>
              <a:gd name="adj" fmla="val 17777"/>
            </a:avLst>
          </a:prstGeom>
          <a:solidFill>
            <a:srgbClr val="DFDCF0"/>
          </a:solidFill>
          <a:ln>
            <a:noFill/>
          </a:ln>
        </p:spPr>
        <p:txBody>
          <a:bodyPr wrap="square" lIns="128016" tIns="91440" bIns="54864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Latent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8×8×256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903463" y="4224528"/>
            <a:ext cx="219457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8" name="Decoder"/>
          <p:cNvSpPr/>
          <p:nvPr/>
        </p:nvSpPr>
        <p:spPr>
          <a:xfrm>
            <a:off x="8150351" y="3813048"/>
            <a:ext cx="1644395" cy="822960"/>
          </a:xfrm>
          <a:prstGeom prst="roundRect">
            <a:avLst>
              <a:gd name="adj" fmla="val 17777"/>
            </a:avLst>
          </a:prstGeom>
          <a:solidFill>
            <a:srgbClr val="EAE8F5"/>
          </a:solidFill>
          <a:ln>
            <a:noFill/>
          </a:ln>
        </p:spPr>
        <p:txBody>
          <a:bodyPr wrap="square" lIns="128016" tIns="91440" bIns="54864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Decoder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Transposed conv.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Upsampling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22179" y="4224528"/>
            <a:ext cx="219457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50" name="Wyjście"/>
          <p:cNvSpPr/>
          <p:nvPr/>
        </p:nvSpPr>
        <p:spPr>
          <a:xfrm>
            <a:off x="10069067" y="3813048"/>
            <a:ext cx="1644395" cy="822960"/>
          </a:xfrm>
          <a:prstGeom prst="roundRect">
            <a:avLst>
              <a:gd name="adj" fmla="val 17777"/>
            </a:avLst>
          </a:prstGeom>
          <a:solidFill>
            <a:srgbClr val="F8E9E4"/>
          </a:solidFill>
          <a:ln>
            <a:noFill/>
          </a:ln>
        </p:spPr>
        <p:txBody>
          <a:bodyPr wrap="square" lIns="128016" tIns="91440" bIns="54864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128×128×3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4204" y="4690872"/>
            <a:ext cx="3563111" cy="10972"/>
          </a:xfrm>
          <a:prstGeom prst="rect">
            <a:avLst/>
          </a:prstGeom>
          <a:solidFill>
            <a:srgbClr val="D9D6E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94204" y="4718304"/>
            <a:ext cx="356311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00" b="0" i="0">
                <a:solidFill>
                  <a:srgbClr val="686783"/>
                </a:solidFill>
                <a:latin typeface="Aptos"/>
              </a:rPr>
              <a:t>Feature extraction and downsampling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50351" y="4690872"/>
            <a:ext cx="3563111" cy="10972"/>
          </a:xfrm>
          <a:prstGeom prst="rect">
            <a:avLst/>
          </a:prstGeom>
          <a:solidFill>
            <a:srgbClr val="D9D6E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50351" y="4718304"/>
            <a:ext cx="356311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00" b="0" i="0">
                <a:solidFill>
                  <a:srgbClr val="686783"/>
                </a:solidFill>
                <a:latin typeface="Aptos"/>
              </a:rPr>
              <a:t>Upsampling and sigmoid output</a:t>
            </a:r>
          </a:p>
        </p:txBody>
      </p:sp>
      <p:sp>
        <p:nvSpPr>
          <p:cNvPr id="55" name="card"/>
          <p:cNvSpPr/>
          <p:nvPr/>
        </p:nvSpPr>
        <p:spPr>
          <a:xfrm>
            <a:off x="475488" y="5047488"/>
            <a:ext cx="2377440" cy="384048"/>
          </a:xfrm>
          <a:prstGeom prst="roundRect">
            <a:avLst>
              <a:gd name="adj" fmla="val 38095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500" b="1" i="0">
                <a:solidFill>
                  <a:srgbClr val="37377F"/>
                </a:solidFill>
                <a:latin typeface="Aptos"/>
              </a:rPr>
              <a:t>Image x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898648" y="5239512"/>
            <a:ext cx="48463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57" name="card"/>
          <p:cNvSpPr/>
          <p:nvPr/>
        </p:nvSpPr>
        <p:spPr>
          <a:xfrm>
            <a:off x="3428999" y="5047488"/>
            <a:ext cx="2377440" cy="384048"/>
          </a:xfrm>
          <a:prstGeom prst="roundRect">
            <a:avLst>
              <a:gd name="adj" fmla="val 38095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500" b="1" i="0">
                <a:solidFill>
                  <a:srgbClr val="37377F"/>
                </a:solidFill>
                <a:latin typeface="Aptos"/>
              </a:rPr>
              <a:t>Reconstruction x̂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52159" y="5239512"/>
            <a:ext cx="48463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59" name="card"/>
          <p:cNvSpPr/>
          <p:nvPr/>
        </p:nvSpPr>
        <p:spPr>
          <a:xfrm>
            <a:off x="6382511" y="5047488"/>
            <a:ext cx="2377440" cy="384048"/>
          </a:xfrm>
          <a:prstGeom prst="roundRect">
            <a:avLst>
              <a:gd name="adj" fmla="val 38095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500" b="1" i="0">
                <a:solidFill>
                  <a:srgbClr val="37377F"/>
                </a:solidFill>
                <a:latin typeface="Aptos"/>
              </a:rPr>
              <a:t>Score s(x)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805672" y="5239512"/>
            <a:ext cx="48463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61" name="card"/>
          <p:cNvSpPr/>
          <p:nvPr/>
        </p:nvSpPr>
        <p:spPr>
          <a:xfrm>
            <a:off x="9336023" y="5047488"/>
            <a:ext cx="2377440" cy="384048"/>
          </a:xfrm>
          <a:prstGeom prst="roundRect">
            <a:avLst>
              <a:gd name="adj" fmla="val 38095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500" b="1" i="0">
                <a:solidFill>
                  <a:srgbClr val="37377F"/>
                </a:solidFill>
                <a:latin typeface="Aptos"/>
              </a:rPr>
              <a:t>Decision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8999" y="54681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56519A"/>
                </a:solidFill>
                <a:latin typeface="Aptos"/>
              </a:rPr>
              <a:t>Training: reconstruction loss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36023" y="54681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56519A"/>
                </a:solidFill>
                <a:latin typeface="Aptos"/>
              </a:rPr>
              <a:t>Classification rule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3281D51A-4760-DAD6-F152-F2F0F1B16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E3E25D99-F329-4742-8DE1-7990A39336E7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312606776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9CB9946-E43A-4A62-9930-731ECE268C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FE40D4-8D79-4931-9DB9-9CC47B8C0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8D342CA8-9472-4C75-88E7-2678F53420D4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MVTec AD">
            <a:extLst>
              <a:ext uri="{FF2B5EF4-FFF2-40B4-BE49-F238E27FC236}">
                <a16:creationId xmlns:a16="http://schemas.microsoft.com/office/drawing/2014/main" id="{A9B6DD7C-20A3-49C3-B511-BBB92CB291F8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MVTec AD / DATA BATCHES</a:t>
            </a:r>
          </a:p>
        </p:txBody>
      </p:sp>
      <p:sp>
        <p:nvSpPr>
          <p:cNvPr id="9" name="Przygotowanie danych i rosnące partie">
            <a:extLst>
              <a:ext uri="{FF2B5EF4-FFF2-40B4-BE49-F238E27FC236}">
                <a16:creationId xmlns:a16="http://schemas.microsoft.com/office/drawing/2014/main" id="{2DD87B64-A4DC-4346-81F6-1837B48FE3BB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Data preparation and incremental batches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C3DDFF-6241-4D62-B1A4-E3174826377B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00DF98D8-3B06-4671-A6B0-2AB3F8A55FD3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25F35861-5A55-4082-BF9F-4EB4AEAB3653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08 / 26">
            <a:extLst>
              <a:ext uri="{FF2B5EF4-FFF2-40B4-BE49-F238E27FC236}">
                <a16:creationId xmlns:a16="http://schemas.microsoft.com/office/drawing/2014/main" id="{6080F088-0F58-4E84-96B4-61F06D0E5398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 / 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Simulated incremental data arrival with cumulative retraining</a:t>
            </a:r>
          </a:p>
        </p:txBody>
      </p:sp>
      <p:sp>
        <p:nvSpPr>
          <p:cNvPr id="30" name="Normalne obrazy"/>
          <p:cNvSpPr/>
          <p:nvPr/>
        </p:nvSpPr>
        <p:spPr>
          <a:xfrm>
            <a:off x="475488" y="2331720"/>
            <a:ext cx="2500884" cy="969264"/>
          </a:xfrm>
          <a:prstGeom prst="roundRect">
            <a:avLst>
              <a:gd name="adj" fmla="val 1509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Normal images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Source images for each category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31236" y="2816352"/>
            <a:ext cx="301752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2" name="Podział"/>
          <p:cNvSpPr/>
          <p:nvPr/>
        </p:nvSpPr>
        <p:spPr>
          <a:xfrm>
            <a:off x="3387852" y="2331720"/>
            <a:ext cx="2500884" cy="969264"/>
          </a:xfrm>
          <a:prstGeom prst="roundRect">
            <a:avLst>
              <a:gd name="adj" fmla="val 1509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Split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About 20% of normal images into the test set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599" y="2816352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4" name="Pula treningowa"/>
          <p:cNvSpPr/>
          <p:nvPr/>
        </p:nvSpPr>
        <p:spPr>
          <a:xfrm>
            <a:off x="6300216" y="2331720"/>
            <a:ext cx="2500884" cy="969264"/>
          </a:xfrm>
          <a:prstGeom prst="roundRect">
            <a:avLst>
              <a:gd name="adj" fmla="val 1509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Training pool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Remaining images split into three batches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55964" y="2816352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6" name="Struktura zbioru"/>
          <p:cNvSpPr/>
          <p:nvPr/>
        </p:nvSpPr>
        <p:spPr>
          <a:xfrm>
            <a:off x="9212580" y="2331720"/>
            <a:ext cx="2500884" cy="969264"/>
          </a:xfrm>
          <a:prstGeom prst="roundRect">
            <a:avLst>
              <a:gd name="adj" fmla="val 1509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Dataset structure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Batches 1/2/3 · fixed test set</a:t>
            </a:r>
          </a:p>
        </p:txBody>
      </p:sp>
      <p:graphicFrame>
        <p:nvGraphicFramePr>
          <p:cNvPr id="37" name="Przebiegi i liczebności"/>
          <p:cNvGraphicFramePr>
            <a:graphicFrameLocks noGrp="1"/>
          </p:cNvGraphicFramePr>
          <p:nvPr/>
        </p:nvGraphicFramePr>
        <p:xfrm>
          <a:off x="475488" y="3438144"/>
          <a:ext cx="8732520" cy="1097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7377F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7377F"/>
                          </a:solidFill>
                          <a:latin typeface="Aptos"/>
                        </a:rPr>
                        <a:t>Available batches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37377F"/>
                          </a:solidFill>
                          <a:latin typeface="Aptos"/>
                        </a:rPr>
                        <a:t>Bottle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E9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37377F"/>
                          </a:solidFill>
                          <a:latin typeface="Aptos"/>
                        </a:rPr>
                        <a:t>Wood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E9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37377F"/>
                          </a:solidFill>
                          <a:latin typeface="Aptos"/>
                        </a:rPr>
                        <a:t>Pill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E9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7377F"/>
                          </a:solidFill>
                          <a:latin typeface="Aptos"/>
                        </a:rPr>
                        <a:t>Run 1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Batch 1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61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71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78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7377F"/>
                          </a:solidFill>
                          <a:latin typeface="Aptos"/>
                        </a:rPr>
                        <a:t>Run 2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Batches 1 + 2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122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142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156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7377F"/>
                          </a:solidFill>
                          <a:latin typeface="Aptos"/>
                        </a:rPr>
                        <a:t>Run 3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Batches 1 + 2 + 3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183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213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86783"/>
                          </a:solidFill>
                          <a:latin typeface="Aptos"/>
                        </a:rPr>
                        <a:t>234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281160" y="3758184"/>
            <a:ext cx="2432303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 dirty="0" err="1">
                <a:solidFill>
                  <a:srgbClr val="686783"/>
                </a:solidFill>
                <a:latin typeface="Aptos"/>
              </a:rPr>
              <a:t>Image counts per category (Bottle / Wood / Pill) from the repository README.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4617720"/>
            <a:ext cx="11237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AN HOURLY DAG ORCHESTRATES THE WORKFLOW THROUGH FASTAPI HTTP ENDPOINTS</a:t>
            </a:r>
          </a:p>
        </p:txBody>
      </p:sp>
      <p:sp>
        <p:nvSpPr>
          <p:cNvPr id="41" name="Udostępnienie danych"/>
          <p:cNvSpPr/>
          <p:nvPr/>
        </p:nvSpPr>
        <p:spPr>
          <a:xfrm>
            <a:off x="475488" y="4882896"/>
            <a:ext cx="2500884" cy="640080"/>
          </a:xfrm>
          <a:prstGeom prst="roundRect">
            <a:avLst>
              <a:gd name="adj" fmla="val 22857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350" b="1" i="0">
                <a:solidFill>
                  <a:srgbClr val="37377F"/>
                </a:solidFill>
                <a:latin typeface="Aptos"/>
              </a:rPr>
              <a:t>Release data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release-next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31236" y="5202936"/>
            <a:ext cx="301752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3" name="Bottle"/>
          <p:cNvSpPr/>
          <p:nvPr/>
        </p:nvSpPr>
        <p:spPr>
          <a:xfrm>
            <a:off x="3387852" y="4882896"/>
            <a:ext cx="2500884" cy="640080"/>
          </a:xfrm>
          <a:prstGeom prst="roundRect">
            <a:avLst>
              <a:gd name="adj" fmla="val 22857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350" b="1" i="0">
                <a:solidFill>
                  <a:srgbClr val="37377F"/>
                </a:solidFill>
                <a:latin typeface="Aptos"/>
              </a:rPr>
              <a:t>Bottle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POST /training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599" y="5202936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5" name="Wood"/>
          <p:cNvSpPr/>
          <p:nvPr/>
        </p:nvSpPr>
        <p:spPr>
          <a:xfrm>
            <a:off x="6300216" y="4882896"/>
            <a:ext cx="2500884" cy="640080"/>
          </a:xfrm>
          <a:prstGeom prst="roundRect">
            <a:avLst>
              <a:gd name="adj" fmla="val 22857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350" b="1" i="0">
                <a:solidFill>
                  <a:srgbClr val="37377F"/>
                </a:solidFill>
                <a:latin typeface="Aptos"/>
              </a:rPr>
              <a:t>Wood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POST /training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55964" y="5202936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7" name="Pill"/>
          <p:cNvSpPr/>
          <p:nvPr/>
        </p:nvSpPr>
        <p:spPr>
          <a:xfrm>
            <a:off x="9212580" y="4882896"/>
            <a:ext cx="2500884" cy="640080"/>
          </a:xfrm>
          <a:prstGeom prst="roundRect">
            <a:avLst>
              <a:gd name="adj" fmla="val 22857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350" b="1" i="0">
                <a:solidFill>
                  <a:srgbClr val="37377F"/>
                </a:solidFill>
                <a:latin typeface="Aptos"/>
              </a:rPr>
              <a:t>Pill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POST /training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5596128"/>
            <a:ext cx="112379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37377F"/>
                </a:solidFill>
                <a:latin typeface="Aptos"/>
              </a:rPr>
              <a:t>Defective source images are included in the fixed test set. Training batches are initially unavailable and released later by the API.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database/load_data.py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D7AC4F25-4A48-DD63-06EA-FCAF4E62C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534BC60D-9652-47EC-AD51-5AF9045D78DE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25480319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FCBC131-FCDA-494E-B595-D454A30D87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05E79B-6F9F-404C-8437-2DFEECF1D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1BE089F6-BD2A-4524-ADDE-1965A4C14BAC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MLflow TRACKING">
            <a:extLst>
              <a:ext uri="{FF2B5EF4-FFF2-40B4-BE49-F238E27FC236}">
                <a16:creationId xmlns:a16="http://schemas.microsoft.com/office/drawing/2014/main" id="{09F16AD5-F399-48E6-9D62-EC9E08E967F3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TRAINING AND MLflow TRACKING</a:t>
            </a:r>
          </a:p>
        </p:txBody>
      </p:sp>
      <p:sp>
        <p:nvSpPr>
          <p:cNvPr id="9" name="Trening TensorFlow i ślad eksperymentu">
            <a:extLst>
              <a:ext uri="{FF2B5EF4-FFF2-40B4-BE49-F238E27FC236}">
                <a16:creationId xmlns:a16="http://schemas.microsoft.com/office/drawing/2014/main" id="{D6383293-709C-4584-8BE9-E9DF899F7BE4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TensorFlow training and MLflow tracking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9E6896-B4E1-4DC5-A241-F5DEF76673D1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7E07302A-219E-4DE2-855F-EA3001F3CE02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2DCFB5BE-2FF8-459C-96C8-9467B11CE75B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09 / 26">
            <a:extLst>
              <a:ext uri="{FF2B5EF4-FFF2-40B4-BE49-F238E27FC236}">
                <a16:creationId xmlns:a16="http://schemas.microsoft.com/office/drawing/2014/main" id="{9BE5D60B-F1C5-4C7B-B7F7-C6583B9CCCC2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 / 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From available normal images to a traceable CAE model and saved test results</a:t>
            </a:r>
          </a:p>
        </p:txBody>
      </p:sp>
      <p:sp>
        <p:nvSpPr>
          <p:cNvPr id="40" name="Wejście"/>
          <p:cNvSpPr/>
          <p:nvPr/>
        </p:nvSpPr>
        <p:spPr>
          <a:xfrm>
            <a:off x="475488" y="2331720"/>
            <a:ext cx="1969617" cy="960120"/>
          </a:xfrm>
          <a:prstGeom prst="roundRect">
            <a:avLst>
              <a:gd name="adj" fmla="val 15238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Available normal images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99969" y="2811779"/>
            <a:ext cx="237744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2" name="Podział"/>
          <p:cNvSpPr/>
          <p:nvPr/>
        </p:nvSpPr>
        <p:spPr>
          <a:xfrm>
            <a:off x="2792577" y="2331720"/>
            <a:ext cx="1969617" cy="960120"/>
          </a:xfrm>
          <a:prstGeom prst="roundRect">
            <a:avLst>
              <a:gd name="adj" fmla="val 15238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Split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80% training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20% validation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17059" y="2811779"/>
            <a:ext cx="237744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4" name="CAE"/>
          <p:cNvSpPr/>
          <p:nvPr/>
        </p:nvSpPr>
        <p:spPr>
          <a:xfrm>
            <a:off x="5109667" y="2331720"/>
            <a:ext cx="1969617" cy="960120"/>
          </a:xfrm>
          <a:prstGeom prst="roundRect">
            <a:avLst>
              <a:gd name="adj" fmla="val 15238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CAE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TensorFlow optimization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34148" y="2811779"/>
            <a:ext cx="237744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6" name="Próg τ"/>
          <p:cNvSpPr/>
          <p:nvPr/>
        </p:nvSpPr>
        <p:spPr>
          <a:xfrm>
            <a:off x="7426756" y="2331720"/>
            <a:ext cx="1969617" cy="960120"/>
          </a:xfrm>
          <a:prstGeom prst="roundRect">
            <a:avLst>
              <a:gd name="adj" fmla="val 15238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Threshold τ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95th percentile of normal scores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451238" y="2811779"/>
            <a:ext cx="237744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8" name="Wyjście"/>
          <p:cNvSpPr/>
          <p:nvPr/>
        </p:nvSpPr>
        <p:spPr>
          <a:xfrm>
            <a:off x="9743846" y="2331720"/>
            <a:ext cx="1969617" cy="960120"/>
          </a:xfrm>
          <a:prstGeom prst="roundRect">
            <a:avLst>
              <a:gd name="adj" fmla="val 15238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Test metrics + MLflow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3419856"/>
            <a:ext cx="1123797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686783"/>
                </a:solidFill>
                <a:latin typeface="Aptos"/>
              </a:rPr>
              <a:t>All released batches are used cumulatively; </a:t>
            </a:r>
            <a:r>
              <a:rPr sz="1350" b="1" i="0">
                <a:solidFill>
                  <a:srgbClr val="37377F"/>
                </a:solidFill>
                <a:latin typeface="Aptos"/>
              </a:rPr>
              <a:t>ReduceLROnPlateau</a:t>
            </a:r>
            <a:r>
              <a:rPr sz="1350" b="0" i="0">
                <a:solidFill>
                  <a:srgbClr val="686783"/>
                </a:solidFill>
                <a:latin typeface="Aptos"/>
              </a:rPr>
              <a:t> adjusts the learning rate.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3840480"/>
            <a:ext cx="11237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MLFLOW TRACKING AND REPRODUCIBILITY</a:t>
            </a:r>
          </a:p>
        </p:txBody>
      </p:sp>
      <p:sp>
        <p:nvSpPr>
          <p:cNvPr id="51" name="Loguje parametry i metryki"/>
          <p:cNvSpPr/>
          <p:nvPr/>
        </p:nvSpPr>
        <p:spPr>
          <a:xfrm>
            <a:off x="475488" y="4133087"/>
            <a:ext cx="3563112" cy="1298448"/>
          </a:xfrm>
          <a:prstGeom prst="roundRect">
            <a:avLst>
              <a:gd name="adj" fmla="val 11267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Logs parameters and metrics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686783"/>
                </a:solidFill>
                <a:latin typeface="Aptos"/>
              </a:rPr>
              <a:t>Category, epochs, available batches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686783"/>
                </a:solidFill>
                <a:latin typeface="Aptos"/>
              </a:rPr>
              <a:t>Training and validation loss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686783"/>
                </a:solidFill>
                <a:latin typeface="Aptos"/>
              </a:rPr>
              <a:t>Test AUROC and F1</a:t>
            </a:r>
          </a:p>
        </p:txBody>
      </p:sp>
      <p:sp>
        <p:nvSpPr>
          <p:cNvPr id="52" name="Zapisuje pochodzenie"/>
          <p:cNvSpPr/>
          <p:nvPr/>
        </p:nvSpPr>
        <p:spPr>
          <a:xfrm>
            <a:off x="4312919" y="4133087"/>
            <a:ext cx="3563112" cy="1298448"/>
          </a:xfrm>
          <a:prstGeom prst="roundRect">
            <a:avLst>
              <a:gd name="adj" fmla="val 11267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Records provenance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686783"/>
                </a:solidFill>
                <a:latin typeface="Aptos"/>
              </a:rPr>
              <a:t>git_commit — code provenance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686783"/>
                </a:solidFill>
                <a:latin typeface="Aptos"/>
              </a:rPr>
              <a:t>SHA-256 dataset_version — data provenance</a:t>
            </a:r>
          </a:p>
        </p:txBody>
      </p:sp>
      <p:sp>
        <p:nvSpPr>
          <p:cNvPr id="53" name="Przechowuje"/>
          <p:cNvSpPr/>
          <p:nvPr/>
        </p:nvSpPr>
        <p:spPr>
          <a:xfrm>
            <a:off x="8150351" y="4133087"/>
            <a:ext cx="3563112" cy="1298448"/>
          </a:xfrm>
          <a:prstGeom prst="roundRect">
            <a:avLst>
              <a:gd name="adj" fmla="val 11267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Stores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686783"/>
                </a:solidFill>
                <a:latin typeface="Aptos"/>
              </a:rPr>
              <a:t>MLflow run history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686783"/>
                </a:solidFill>
                <a:latin typeface="Aptos"/>
              </a:rPr>
              <a:t>Evaluation reports (evaluation.json)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686783"/>
                </a:solidFill>
                <a:latin typeface="Aptos"/>
              </a:rPr>
              <a:t>cae.keras and threshold.json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900" y="5577840"/>
            <a:ext cx="112395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 dirty="0">
                <a:solidFill>
                  <a:srgbClr val="686783"/>
                </a:solidFill>
                <a:latin typeface="Aptos"/>
              </a:rPr>
              <a:t>Image manifest (dataset/manifest.tsv) logged to MLflow together with dataset_version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src/training.py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34F77D62-5C19-1F56-5C2E-5F121067B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1C285D5D-6C38-46AC-8CA5-84DADAEB3FBD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391460714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6F12E24-22E0-45EE-AB96-6879D341AC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7FBFF7-E14F-4017-B5A3-661122B91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F1C3A68D-377D-435E-B12B-71D3B07A08DB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AYOUB / EWALUACJA">
            <a:extLst>
              <a:ext uri="{FF2B5EF4-FFF2-40B4-BE49-F238E27FC236}">
                <a16:creationId xmlns:a16="http://schemas.microsoft.com/office/drawing/2014/main" id="{19BB8DC7-78E3-4117-90FE-0FF70E48876C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9" name="Zapisane wyniki oceny modeli">
            <a:extLst>
              <a:ext uri="{FF2B5EF4-FFF2-40B4-BE49-F238E27FC236}">
                <a16:creationId xmlns:a16="http://schemas.microsoft.com/office/drawing/2014/main" id="{12214A43-5501-4DEF-9285-D48ECE5D97D3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Evaluation: saved reports per 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CE9696-C427-4040-A9E8-C52ADB5B62D9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1F8AB41D-4EA9-4E7B-96AA-AEA6EEFF7BCC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Ayoub Hamdoun">
            <a:extLst>
              <a:ext uri="{FF2B5EF4-FFF2-40B4-BE49-F238E27FC236}">
                <a16:creationId xmlns:a16="http://schemas.microsoft.com/office/drawing/2014/main" id="{96AF430E-DE8D-41D8-84AE-45E963C69323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Ayoub Hamdoun</a:t>
            </a:r>
          </a:p>
        </p:txBody>
      </p:sp>
      <p:sp>
        <p:nvSpPr>
          <p:cNvPr id="13" name="10 / 26">
            <a:extLst>
              <a:ext uri="{FF2B5EF4-FFF2-40B4-BE49-F238E27FC236}">
                <a16:creationId xmlns:a16="http://schemas.microsoft.com/office/drawing/2014/main" id="{F22968ED-1780-4760-9E3D-E3242ABC5FBD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 / 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AUROC, F1 and confusion counts from saved JSON reports for Bottle, Wood and Pill</a:t>
            </a:r>
          </a:p>
        </p:txBody>
      </p:sp>
      <p:graphicFrame>
        <p:nvGraphicFramePr>
          <p:cNvPr id="20" name="Wyniki ewaluacji"/>
          <p:cNvGraphicFramePr>
            <a:graphicFrameLocks noGrp="1"/>
          </p:cNvGraphicFramePr>
          <p:nvPr/>
        </p:nvGraphicFramePr>
        <p:xfrm>
          <a:off x="475488" y="2423160"/>
          <a:ext cx="11239500" cy="1885188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AUROC</a:t>
                      </a:r>
                      <a:br>
                        <a:rPr sz="1100" b="0">
                          <a:solidFill>
                            <a:srgbClr val="686783"/>
                          </a:solidFill>
                          <a:latin typeface="Aptos"/>
                        </a:rPr>
                      </a:br>
                      <a:r>
                        <a:rPr sz="1100" b="0" i="0">
                          <a:solidFill>
                            <a:srgbClr val="686783"/>
                          </a:solidFill>
                          <a:latin typeface="Aptos"/>
                        </a:rPr>
                        <a:t>(area under the ROC curve)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F1</a:t>
                      </a:r>
                      <a:br>
                        <a:rPr sz="1100" b="0">
                          <a:solidFill>
                            <a:srgbClr val="686783"/>
                          </a:solidFill>
                          <a:latin typeface="Aptos"/>
                        </a:rPr>
                      </a:br>
                      <a:r>
                        <a:rPr sz="1100" b="0" i="0">
                          <a:solidFill>
                            <a:srgbClr val="686783"/>
                          </a:solidFill>
                          <a:latin typeface="Aptos"/>
                        </a:rPr>
                        <a:t>(precision + recall)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TN</a:t>
                      </a:r>
                      <a:br>
                        <a:rPr sz="1100" b="0">
                          <a:solidFill>
                            <a:srgbClr val="686783"/>
                          </a:solidFill>
                          <a:latin typeface="Aptos"/>
                        </a:rPr>
                      </a:br>
                      <a:r>
                        <a:rPr sz="1100" b="0" i="0">
                          <a:solidFill>
                            <a:srgbClr val="686783"/>
                          </a:solidFill>
                          <a:latin typeface="Aptos"/>
                        </a:rPr>
                        <a:t>(true negatives)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FP</a:t>
                      </a:r>
                      <a:br>
                        <a:rPr sz="1100" b="0">
                          <a:solidFill>
                            <a:srgbClr val="686783"/>
                          </a:solidFill>
                          <a:latin typeface="Aptos"/>
                        </a:rPr>
                      </a:br>
                      <a:r>
                        <a:rPr sz="1100" b="0" i="0">
                          <a:solidFill>
                            <a:srgbClr val="686783"/>
                          </a:solidFill>
                          <a:latin typeface="Aptos"/>
                        </a:rPr>
                        <a:t>(false positives)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Report section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37377F"/>
                          </a:solidFill>
                          <a:latin typeface="Aptos"/>
                        </a:rPr>
                        <a:t>Bottle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0.665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0.865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6519A"/>
                          </a:solidFill>
                          <a:latin typeface="Aptos"/>
                        </a:rPr>
                        <a:t>holdout_metrics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37377F"/>
                          </a:solidFill>
                          <a:latin typeface="Aptos"/>
                        </a:rPr>
                        <a:t>Wood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0.887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0.945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6519A"/>
                          </a:solidFill>
                          <a:latin typeface="Aptos"/>
                        </a:rPr>
                        <a:t>calibrated_holdout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37377F"/>
                          </a:solidFill>
                          <a:latin typeface="Aptos"/>
                        </a:rPr>
                        <a:t>Pill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0.272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0.895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686783"/>
                          </a:solidFill>
                          <a:latin typeface="Aptos"/>
                        </a:rPr>
                        <a:t>17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6519A"/>
                          </a:solidFill>
                          <a:latin typeface="Aptos"/>
                        </a:rPr>
                        <a:t>calibrated_holdout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accent"/>
          <p:cNvSpPr/>
          <p:nvPr/>
        </p:nvSpPr>
        <p:spPr>
          <a:xfrm>
            <a:off x="475488" y="4622800"/>
            <a:ext cx="667512" cy="13716"/>
          </a:xfrm>
          <a:prstGeom prst="rect">
            <a:avLst/>
          </a:prstGeom>
          <a:solidFill>
            <a:srgbClr val="E6B0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2456" y="4470400"/>
            <a:ext cx="1035100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Interpretation: Wood AUROC is higher than Pill AUROC; Pill has high F1 despite low AUROC.</a:t>
            </a:r>
          </a:p>
        </p:txBody>
      </p:sp>
      <p:sp>
        <p:nvSpPr>
          <p:cNvPr id="23" name="Ograniczenie porównania"/>
          <p:cNvSpPr/>
          <p:nvPr/>
        </p:nvSpPr>
        <p:spPr>
          <a:xfrm>
            <a:off x="475488" y="4956048"/>
            <a:ext cx="11237976" cy="713232"/>
          </a:xfrm>
          <a:prstGeom prst="roundRect">
            <a:avLst>
              <a:gd name="adj" fmla="val 20512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73152" rIns="146304" bIns="54864" rtlCol="0" anchor="t">
            <a:noAutofit/>
          </a:bodyPr>
          <a:lstStyle/>
          <a:p>
            <a:pPr algn="l"/>
            <a:r>
              <a:rPr sz="1350" b="1" i="0">
                <a:solidFill>
                  <a:srgbClr val="37377F"/>
                </a:solidFill>
                <a:latin typeface="Aptos"/>
              </a:rPr>
              <a:t>Comparison limitation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Report sections differ (holdout_metrics vs calibrated_holdout) — results are not directly comparable final benchmarks.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870448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Sources: src/training.py; models/*/evaluation.json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51AD9227-D498-74DF-8178-8ED793940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4B4489B3-4166-4F06-B05B-08F84A39BBBD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2665947167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19DAF07-0775-48A5-85F0-FAAF803ED7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9703AF-1743-4D7E-9802-32F5117AE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BEE3B79E-47A0-4663-9A10-301967202955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MOHAMED / ARCHITEKTURA">
            <a:extLst>
              <a:ext uri="{FF2B5EF4-FFF2-40B4-BE49-F238E27FC236}">
                <a16:creationId xmlns:a16="http://schemas.microsoft.com/office/drawing/2014/main" id="{D5D5FDBB-450A-4AD8-AB33-85C7E95E5229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9" name="Docker Compose uruchamia spójne środowisko">
            <a:extLst>
              <a:ext uri="{FF2B5EF4-FFF2-40B4-BE49-F238E27FC236}">
                <a16:creationId xmlns:a16="http://schemas.microsoft.com/office/drawing/2014/main" id="{3BC322D1-1FFE-413C-A520-A9A11CD4E19B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Docker Compose: integrated microservices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48A11-1DCB-44DB-82B4-4397D077A939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B04A4D4F-C209-4730-89D3-42424F4EA6D7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Mohamed Bouraaman">
            <a:extLst>
              <a:ext uri="{FF2B5EF4-FFF2-40B4-BE49-F238E27FC236}">
                <a16:creationId xmlns:a16="http://schemas.microsoft.com/office/drawing/2014/main" id="{CD0AA0F5-3B1F-4666-8CF4-307C656060DE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Mohamed Bouraaman</a:t>
            </a:r>
          </a:p>
        </p:txBody>
      </p:sp>
      <p:sp>
        <p:nvSpPr>
          <p:cNvPr id="13" name="11 / 26">
            <a:extLst>
              <a:ext uri="{FF2B5EF4-FFF2-40B4-BE49-F238E27FC236}">
                <a16:creationId xmlns:a16="http://schemas.microsoft.com/office/drawing/2014/main" id="{0255381A-555D-4EC1-AAAF-683817552D95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A reproducible deployment with seven cooperating services</a:t>
            </a:r>
          </a:p>
        </p:txBody>
      </p:sp>
      <p:sp>
        <p:nvSpPr>
          <p:cNvPr id="45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Project code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Dockerfiles + settings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7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docker compose up -d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Build/start containers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Connect services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9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API, DB, Airflow, MLflow,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Streamlit, Prometheus, Grafana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361188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SERVICES AND HOST PORTS</a:t>
            </a:r>
          </a:p>
        </p:txBody>
      </p:sp>
      <p:graphicFrame>
        <p:nvGraphicFramePr>
          <p:cNvPr id="51" name="Porty"/>
          <p:cNvGraphicFramePr>
            <a:graphicFrameLocks noGrp="1"/>
          </p:cNvGraphicFramePr>
          <p:nvPr/>
        </p:nvGraphicFramePr>
        <p:xfrm>
          <a:off x="475488" y="3904487"/>
          <a:ext cx="6126480" cy="1737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Host port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Host port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FastAPI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686783"/>
                          </a:solidFill>
                          <a:latin typeface="Aptos"/>
                        </a:rPr>
                        <a:t>8000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Streamlit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686783"/>
                          </a:solidFill>
                          <a:latin typeface="Aptos"/>
                        </a:rPr>
                        <a:t>8501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Airflow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686783"/>
                          </a:solidFill>
                          <a:latin typeface="Aptos"/>
                        </a:rPr>
                        <a:t>8081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MLflow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686783"/>
                          </a:solidFill>
                          <a:latin typeface="Aptos"/>
                        </a:rPr>
                        <a:t>5001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PostgreSQL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686783"/>
                          </a:solidFill>
                          <a:latin typeface="Aptos"/>
                        </a:rPr>
                        <a:t>5432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Prometheus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686783"/>
                          </a:solidFill>
                          <a:latin typeface="Aptos"/>
                        </a:rPr>
                        <a:t>9090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37377F"/>
                          </a:solidFill>
                          <a:latin typeface="Aptos"/>
                        </a:rPr>
                        <a:t>Grafana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686783"/>
                          </a:solidFill>
                          <a:latin typeface="Aptos"/>
                        </a:rPr>
                        <a:t>3000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Sieć Compose"/>
          <p:cNvSpPr/>
          <p:nvPr/>
        </p:nvSpPr>
        <p:spPr>
          <a:xfrm>
            <a:off x="7086600" y="3904487"/>
            <a:ext cx="4626863" cy="914400"/>
          </a:xfrm>
          <a:prstGeom prst="roundRect">
            <a:avLst>
              <a:gd name="adj" fmla="val 16000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Compose network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Internal names such as api, postgres and mlflow resolve through the Compose network.</a:t>
            </a:r>
          </a:p>
        </p:txBody>
      </p:sp>
      <p:sp>
        <p:nvSpPr>
          <p:cNvPr id="53" name="Wolumeny (volumes)"/>
          <p:cNvSpPr/>
          <p:nvPr/>
        </p:nvSpPr>
        <p:spPr>
          <a:xfrm>
            <a:off x="7086600" y="4956048"/>
            <a:ext cx="4626863" cy="749808"/>
          </a:xfrm>
          <a:prstGeom prst="roundRect">
            <a:avLst>
              <a:gd name="adj" fmla="val 19512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Volumes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Persist database and experiment data.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docker-compose.yml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053B3C10-71B2-F102-EA47-C8C8F708A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27A87AB6-3528-4F51-A5DE-3C98D890D11E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35711484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2C84EAE-8221-4231-BEA5-E9C018344C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AE55FE-6228-4B5D-B3B8-14E996FE1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CD1BAA7B-7228-4830-A944-4B8C378ECF5D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MOHAMED / DANE">
            <a:extLst>
              <a:ext uri="{FF2B5EF4-FFF2-40B4-BE49-F238E27FC236}">
                <a16:creationId xmlns:a16="http://schemas.microsoft.com/office/drawing/2014/main" id="{AD1BD556-F420-45FE-89C3-5DD207D243ED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9" name="Zdjęcie ma kategorię, rolę i status dostępności">
            <a:extLst>
              <a:ext uri="{FF2B5EF4-FFF2-40B4-BE49-F238E27FC236}">
                <a16:creationId xmlns:a16="http://schemas.microsoft.com/office/drawing/2014/main" id="{9CD8FDDB-A85D-4DB7-961E-B589ADD8AC60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PostgreSQL: central metadata and batch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6D5017-8317-4B95-BC29-7773A578C292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55F33422-F400-4FF7-840E-9F4401D8D4EA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Mohamed Bouraaman">
            <a:extLst>
              <a:ext uri="{FF2B5EF4-FFF2-40B4-BE49-F238E27FC236}">
                <a16:creationId xmlns:a16="http://schemas.microsoft.com/office/drawing/2014/main" id="{F8867437-B8F7-4376-A096-6B2D84B04D88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Mohamed Bouraaman</a:t>
            </a:r>
          </a:p>
        </p:txBody>
      </p:sp>
      <p:sp>
        <p:nvSpPr>
          <p:cNvPr id="13" name="12 / 26">
            <a:extLst>
              <a:ext uri="{FF2B5EF4-FFF2-40B4-BE49-F238E27FC236}">
                <a16:creationId xmlns:a16="http://schemas.microsoft.com/office/drawing/2014/main" id="{9EE53E30-D754-4D23-8E94-5CB95AD98CE5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 / 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PostgreSQL stores image paths, labels and availability flags — not image pixels</a:t>
            </a:r>
          </a:p>
        </p:txBody>
      </p:sp>
      <p:sp>
        <p:nvSpPr>
          <p:cNvPr id="32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Path, category, dataset split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Batch ID and defect type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4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Store and query rows in images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Update availability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6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Available training images and fixed test-image paths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3611880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IMPORTANT FIELDS</a:t>
            </a:r>
          </a:p>
        </p:txBody>
      </p:sp>
      <p:sp>
        <p:nvSpPr>
          <p:cNvPr id="38" name="card"/>
          <p:cNvSpPr/>
          <p:nvPr/>
        </p:nvSpPr>
        <p:spPr>
          <a:xfrm>
            <a:off x="475488" y="3904487"/>
            <a:ext cx="5852160" cy="493776"/>
          </a:xfrm>
          <a:prstGeom prst="roundRect">
            <a:avLst>
              <a:gd name="adj" fmla="val 29629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36576" rIns="109728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category  ·  image_path  ·  split</a:t>
            </a:r>
          </a:p>
        </p:txBody>
      </p:sp>
      <p:sp>
        <p:nvSpPr>
          <p:cNvPr id="39" name="card"/>
          <p:cNvSpPr/>
          <p:nvPr/>
        </p:nvSpPr>
        <p:spPr>
          <a:xfrm>
            <a:off x="475488" y="4471416"/>
            <a:ext cx="5852160" cy="493776"/>
          </a:xfrm>
          <a:prstGeom prst="roundRect">
            <a:avLst>
              <a:gd name="adj" fmla="val 29629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36576" rIns="109728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batch_id  ·  is_anomaly</a:t>
            </a:r>
          </a:p>
        </p:txBody>
      </p:sp>
      <p:sp>
        <p:nvSpPr>
          <p:cNvPr id="40" name="card"/>
          <p:cNvSpPr/>
          <p:nvPr/>
        </p:nvSpPr>
        <p:spPr>
          <a:xfrm>
            <a:off x="475488" y="5038344"/>
            <a:ext cx="5852160" cy="493776"/>
          </a:xfrm>
          <a:prstGeom prst="roundRect">
            <a:avLst>
              <a:gd name="adj" fmla="val 29629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36576" rIns="109728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is_available  ·  released_at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3611880"/>
            <a:ext cx="499262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WHO USES POSTGRESQL?</a:t>
            </a:r>
          </a:p>
        </p:txBody>
      </p:sp>
      <p:sp>
        <p:nvSpPr>
          <p:cNvPr id="42" name="card"/>
          <p:cNvSpPr/>
          <p:nvPr/>
        </p:nvSpPr>
        <p:spPr>
          <a:xfrm>
            <a:off x="6720840" y="3904487"/>
            <a:ext cx="4992623" cy="493776"/>
          </a:xfrm>
          <a:prstGeom prst="roundRect">
            <a:avLst>
              <a:gd name="adj" fmla="val 29629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36576" rIns="109728" bIns="36576" rtlCol="0" anchor="ctr">
            <a:noAutofit/>
          </a:bodyPr>
          <a:lstStyle/>
          <a:p>
            <a:pPr algn="l"/>
            <a:r>
              <a:rPr sz="1300" b="1" i="0">
                <a:solidFill>
                  <a:srgbClr val="37377F"/>
                </a:solidFill>
                <a:latin typeface="Aptos"/>
              </a:rPr>
              <a:t>FastAPI: </a:t>
            </a:r>
            <a:r>
              <a:rPr sz="1300" b="0" i="0">
                <a:solidFill>
                  <a:srgbClr val="686783"/>
                </a:solidFill>
                <a:latin typeface="Aptos"/>
              </a:rPr>
              <a:t>release batches and inspect status</a:t>
            </a:r>
          </a:p>
        </p:txBody>
      </p:sp>
      <p:sp>
        <p:nvSpPr>
          <p:cNvPr id="43" name="card"/>
          <p:cNvSpPr/>
          <p:nvPr/>
        </p:nvSpPr>
        <p:spPr>
          <a:xfrm>
            <a:off x="6720840" y="4471416"/>
            <a:ext cx="4992623" cy="493776"/>
          </a:xfrm>
          <a:prstGeom prst="roundRect">
            <a:avLst>
              <a:gd name="adj" fmla="val 29629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36576" rIns="109728" bIns="36576" rtlCol="0" anchor="ctr">
            <a:noAutofit/>
          </a:bodyPr>
          <a:lstStyle/>
          <a:p>
            <a:pPr algn="l"/>
            <a:r>
              <a:rPr sz="1300" b="1" i="0">
                <a:solidFill>
                  <a:srgbClr val="37377F"/>
                </a:solidFill>
                <a:latin typeface="Aptos"/>
              </a:rPr>
              <a:t>Training: </a:t>
            </a:r>
            <a:r>
              <a:rPr sz="1300" b="0" i="0">
                <a:solidFill>
                  <a:srgbClr val="686783"/>
                </a:solidFill>
                <a:latin typeface="Aptos"/>
              </a:rPr>
              <a:t>query eligible image paths</a:t>
            </a:r>
          </a:p>
        </p:txBody>
      </p:sp>
      <p:sp>
        <p:nvSpPr>
          <p:cNvPr id="44" name="card"/>
          <p:cNvSpPr/>
          <p:nvPr/>
        </p:nvSpPr>
        <p:spPr>
          <a:xfrm>
            <a:off x="6720840" y="5038344"/>
            <a:ext cx="4992623" cy="493776"/>
          </a:xfrm>
          <a:prstGeom prst="roundRect">
            <a:avLst>
              <a:gd name="adj" fmla="val 29629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36576" rIns="109728" bIns="36576" rtlCol="0" anchor="ctr">
            <a:noAutofit/>
          </a:bodyPr>
          <a:lstStyle/>
          <a:p>
            <a:pPr algn="l"/>
            <a:r>
              <a:rPr sz="1300" b="1" i="0">
                <a:solidFill>
                  <a:srgbClr val="37377F"/>
                </a:solidFill>
                <a:latin typeface="Aptos"/>
              </a:rPr>
              <a:t>Monitoring: </a:t>
            </a:r>
            <a:r>
              <a:rPr sz="1300" b="0" i="0">
                <a:solidFill>
                  <a:srgbClr val="686783"/>
                </a:solidFill>
                <a:latin typeface="Aptos"/>
              </a:rPr>
              <a:t>store predictions and drift reports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database/init.sql, database/load_data.py, src/monitoring.py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21C11D42-5C5A-07F4-192B-24812F714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CEF84EEB-CD43-4415-B9EF-943AD3EDC144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1618741193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69D8AE5-3ADE-4FD9-AF8E-F3159F78D0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627376-5D86-4A7E-818A-9A9FB85B4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08D90F70-917C-41AE-8C32-69E5A45A178D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MOHAMED / FASTAPI + PostgreSQL">
            <a:extLst>
              <a:ext uri="{FF2B5EF4-FFF2-40B4-BE49-F238E27FC236}">
                <a16:creationId xmlns:a16="http://schemas.microsoft.com/office/drawing/2014/main" id="{97B06E5A-BDA3-4AD7-9BA5-54E5C758B7A9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FASTAPI + PostgreSQL</a:t>
            </a:r>
          </a:p>
        </p:txBody>
      </p:sp>
      <p:sp>
        <p:nvSpPr>
          <p:cNvPr id="9" name="Udostępnianie kolejnej partii danych">
            <a:extLst>
              <a:ext uri="{FF2B5EF4-FFF2-40B4-BE49-F238E27FC236}">
                <a16:creationId xmlns:a16="http://schemas.microsoft.com/office/drawing/2014/main" id="{C20D824C-0524-4828-8162-4A46A431D255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Batch release through FastAPI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927DE2-B37A-4A71-8D6D-1E83D32AF563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ABA13DE9-436F-49C9-B7B2-3F49D93B6AF7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Mohamed Bouraaman">
            <a:extLst>
              <a:ext uri="{FF2B5EF4-FFF2-40B4-BE49-F238E27FC236}">
                <a16:creationId xmlns:a16="http://schemas.microsoft.com/office/drawing/2014/main" id="{A4922F7D-951B-4F31-AD13-502BDDCB1D9F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Mohamed Bouraaman</a:t>
            </a:r>
          </a:p>
        </p:txBody>
      </p:sp>
      <p:sp>
        <p:nvSpPr>
          <p:cNvPr id="13" name="13 / 26">
            <a:extLst>
              <a:ext uri="{FF2B5EF4-FFF2-40B4-BE49-F238E27FC236}">
                <a16:creationId xmlns:a16="http://schemas.microsoft.com/office/drawing/2014/main" id="{654DD796-BB64-41C5-BBCE-4280AB50EB83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 /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A controlled database update simulates incoming production data</a:t>
            </a:r>
          </a:p>
        </p:txBody>
      </p:sp>
      <p:sp>
        <p:nvSpPr>
          <p:cNvPr id="35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POST /batches/release-next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HTTP request from Airflow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7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Find next locked batch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Set is_available = TRUE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9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JSON response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Released batch ID + image count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3611880"/>
            <a:ext cx="11237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BATCH RELEASE CYCLE</a:t>
            </a:r>
          </a:p>
        </p:txBody>
      </p:sp>
      <p:sp>
        <p:nvSpPr>
          <p:cNvPr id="41" name="Na początku"/>
          <p:cNvSpPr/>
          <p:nvPr/>
        </p:nvSpPr>
        <p:spPr>
          <a:xfrm>
            <a:off x="475488" y="3886200"/>
            <a:ext cx="3471672" cy="713232"/>
          </a:xfrm>
          <a:prstGeom prst="roundRect">
            <a:avLst>
              <a:gd name="adj" fmla="val 20512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Initially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All three batches locked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002023" y="4242816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3" name="Po trzech żądaniach"/>
          <p:cNvSpPr/>
          <p:nvPr/>
        </p:nvSpPr>
        <p:spPr>
          <a:xfrm>
            <a:off x="4358639" y="3886200"/>
            <a:ext cx="3471672" cy="713232"/>
          </a:xfrm>
          <a:prstGeom prst="roundRect">
            <a:avLst>
              <a:gd name="adj" fmla="val 20512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After three requests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All batches released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85176" y="4242816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5" name="Następnie"/>
          <p:cNvSpPr/>
          <p:nvPr/>
        </p:nvSpPr>
        <p:spPr>
          <a:xfrm>
            <a:off x="8241791" y="3886200"/>
            <a:ext cx="3471672" cy="713232"/>
          </a:xfrm>
          <a:prstGeom prst="roundRect">
            <a:avLst>
              <a:gd name="adj" fmla="val 20512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Then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No new batch / skip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4773168"/>
            <a:ext cx="11237976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Why does this matter?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Industrial datasets typically grow over time.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Retraining is triggered only when new data become available.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api/main.py: release_next_batch, airflow/dags/training_dag.py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AB73C177-B1B7-0E0F-F1CA-D4E2906EE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B8B00960-CCA1-46AC-A3C4-DA636C88E0A4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292138165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2099F45C-5C17-4B03-A39A-5437F81201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ECE893-BC95-4906-857F-E2F8180CE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93FAEF90-F7DA-479A-9E10-FA22717CB358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MOHAMED / ORKIESTRACJA">
            <a:extLst>
              <a:ext uri="{FF2B5EF4-FFF2-40B4-BE49-F238E27FC236}">
                <a16:creationId xmlns:a16="http://schemas.microsoft.com/office/drawing/2014/main" id="{26E7C609-7E3E-45D4-834B-03FE714AFA7F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56519A"/>
                </a:solidFill>
                <a:latin typeface="Aptos"/>
                <a:ea typeface="Aptos"/>
                <a:cs typeface="Aptos"/>
              </a:rPr>
              <a:t>AIRFLOW ORCHESTRATION / DEEP DIVE</a:t>
            </a:r>
          </a:p>
        </p:txBody>
      </p:sp>
      <p:sp>
        <p:nvSpPr>
          <p:cNvPr id="9" name="Airflow powtarza sekwencję bez ręcznej obsługi">
            <a:extLst>
              <a:ext uri="{FF2B5EF4-FFF2-40B4-BE49-F238E27FC236}">
                <a16:creationId xmlns:a16="http://schemas.microsoft.com/office/drawing/2014/main" id="{EE47AAA8-4B68-475F-B455-F7C2CB966DDE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Airflow: hourly DAG implementation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5D13EE-785E-4A65-B8FD-A34C2D8DF7F1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711A8891-9BE6-4D4B-8FA6-63C889F42EF7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Mohamed Bouraaman">
            <a:extLst>
              <a:ext uri="{FF2B5EF4-FFF2-40B4-BE49-F238E27FC236}">
                <a16:creationId xmlns:a16="http://schemas.microsoft.com/office/drawing/2014/main" id="{44FC7447-EECE-4565-B8E5-D32676146EDA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Mohamed Bouraaman</a:t>
            </a:r>
          </a:p>
        </p:txBody>
      </p:sp>
      <p:sp>
        <p:nvSpPr>
          <p:cNvPr id="13" name="14 / 26">
            <a:extLst>
              <a:ext uri="{FF2B5EF4-FFF2-40B4-BE49-F238E27FC236}">
                <a16:creationId xmlns:a16="http://schemas.microsoft.com/office/drawing/2014/main" id="{CE9C19AB-72E4-4BD8-A260-98DCC45303C5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 / 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Implementation of the hourly sequence introduced on slide 08</a:t>
            </a:r>
          </a:p>
        </p:txBody>
      </p:sp>
      <p:sp>
        <p:nvSpPr>
          <p:cNvPr id="41" name="Udostępnij partię"/>
          <p:cNvSpPr/>
          <p:nvPr/>
        </p:nvSpPr>
        <p:spPr>
          <a:xfrm>
            <a:off x="475488" y="2377440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Release batch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POST /batches/release-next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task_id: release_next_batch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31236" y="2857500"/>
            <a:ext cx="301752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3" name="Bottle"/>
          <p:cNvSpPr/>
          <p:nvPr/>
        </p:nvSpPr>
        <p:spPr>
          <a:xfrm>
            <a:off x="3387852" y="2377440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Bottle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POST /training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task_id: train_bottle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599" y="2857500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5" name="Wood"/>
          <p:cNvSpPr/>
          <p:nvPr/>
        </p:nvSpPr>
        <p:spPr>
          <a:xfrm>
            <a:off x="6300216" y="2377440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Wood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POST /training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task_id: train_wood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55964" y="2857500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7" name="Pill"/>
          <p:cNvSpPr/>
          <p:nvPr/>
        </p:nvSpPr>
        <p:spPr>
          <a:xfrm>
            <a:off x="9212580" y="2377440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Pill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POST /training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task_id: train_pill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725930" y="3374136"/>
            <a:ext cx="0" cy="338327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9" name="Brak nowej partii"/>
          <p:cNvSpPr/>
          <p:nvPr/>
        </p:nvSpPr>
        <p:spPr>
          <a:xfrm>
            <a:off x="475488" y="3749039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No new batch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AirflowSkipException — further training skipped</a:t>
            </a:r>
          </a:p>
        </p:txBody>
      </p:sp>
      <p:sp>
        <p:nvSpPr>
          <p:cNvPr id="50" name="Konfiguracja DAG: anomaly_detection_incremental_training"/>
          <p:cNvSpPr/>
          <p:nvPr/>
        </p:nvSpPr>
        <p:spPr>
          <a:xfrm>
            <a:off x="3387852" y="3749039"/>
            <a:ext cx="8325612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DAG configuration: anomaly_detection_incremental_training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Schedule @hourly · catchup=False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max_active_runs=1 — at most one active DAG run</a:t>
            </a:r>
          </a:p>
        </p:txBody>
      </p:sp>
      <p:sp>
        <p:nvSpPr>
          <p:cNvPr id="52" name="accent"/>
          <p:cNvSpPr/>
          <p:nvPr/>
        </p:nvSpPr>
        <p:spPr>
          <a:xfrm>
            <a:off x="475488" y="5138928"/>
            <a:ext cx="667512" cy="13716"/>
          </a:xfrm>
          <a:prstGeom prst="rect">
            <a:avLst/>
          </a:prstGeom>
          <a:solidFill>
            <a:srgbClr val="E6B0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62456" y="4983480"/>
            <a:ext cx="1035100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 dirty="0">
                <a:solidFill>
                  <a:srgbClr val="37377F"/>
                </a:solidFill>
                <a:latin typeface="Aptos"/>
              </a:rPr>
              <a:t>No new batch ends the DAG run without training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airflow/dags/training_dag.py, api/main.py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B76C9C61-85C5-689C-713D-0827F43EC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90C2B942-7394-4E59-9BC2-EB6B72A4817C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2058500557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DF35BB5-F168-4C5E-96A5-E666C717FC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D8ED64-7131-42E3-B8B7-91DAD8A7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B1F60050-E44D-49D5-999A-52763E2F938A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MOHAMED / KONTRAKT HTTP">
            <a:extLst>
              <a:ext uri="{FF2B5EF4-FFF2-40B4-BE49-F238E27FC236}">
                <a16:creationId xmlns:a16="http://schemas.microsoft.com/office/drawing/2014/main" id="{85F4A8B8-F5D6-4709-869A-BB000D790921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HTTP CONTRACT</a:t>
            </a:r>
          </a:p>
        </p:txBody>
      </p:sp>
      <p:sp>
        <p:nvSpPr>
          <p:cNvPr id="9" name="FastAPI łączy usługi projektu">
            <a:extLst>
              <a:ext uri="{FF2B5EF4-FFF2-40B4-BE49-F238E27FC236}">
                <a16:creationId xmlns:a16="http://schemas.microsoft.com/office/drawing/2014/main" id="{CF79C9AE-5416-4750-9131-743B45158963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FastAPI: communication between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6597B-C250-4AAE-8261-1D20A2DE0005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58E5F14F-440D-4838-8EAC-6E148146310C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Mohamed Bouraaman">
            <a:extLst>
              <a:ext uri="{FF2B5EF4-FFF2-40B4-BE49-F238E27FC236}">
                <a16:creationId xmlns:a16="http://schemas.microsoft.com/office/drawing/2014/main" id="{300DD903-BCB5-4566-8640-55D8B8B01B4D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Mohamed Bouraaman</a:t>
            </a:r>
          </a:p>
        </p:txBody>
      </p:sp>
      <p:sp>
        <p:nvSpPr>
          <p:cNvPr id="13" name="15 / 26">
            <a:extLst>
              <a:ext uri="{FF2B5EF4-FFF2-40B4-BE49-F238E27FC236}">
                <a16:creationId xmlns:a16="http://schemas.microsoft.com/office/drawing/2014/main" id="{BC7D43EB-1833-4DAA-B3EA-0BC945C771BB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 / 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HTTP endpoints expose training, batch management, prediction and monitoring</a:t>
            </a:r>
          </a:p>
        </p:txBody>
      </p:sp>
      <p:sp>
        <p:nvSpPr>
          <p:cNvPr id="18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Requests from Airflow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or Streamlit / clients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20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FastAPI validates requests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Calls Python functions and PostgreSQL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22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JSON responses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Status, predictions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Monitoring results</a:t>
            </a:r>
          </a:p>
        </p:txBody>
      </p:sp>
      <p:graphicFrame>
        <p:nvGraphicFramePr>
          <p:cNvPr id="23" name="Endpointy"/>
          <p:cNvGraphicFramePr>
            <a:graphicFrameLocks noGrp="1"/>
          </p:cNvGraphicFramePr>
          <p:nvPr/>
        </p:nvGraphicFramePr>
        <p:xfrm>
          <a:off x="475488" y="3611880"/>
          <a:ext cx="11237975" cy="2112264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0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7377F"/>
                          </a:solidFill>
                          <a:latin typeface="Aptos"/>
                        </a:rPr>
                        <a:t>Endpoint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7377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7377F"/>
                          </a:solidFill>
                          <a:latin typeface="Aptos"/>
                        </a:rPr>
                        <a:t>POST /training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686783"/>
                          </a:solidFill>
                          <a:latin typeface="Aptos"/>
                        </a:rPr>
                        <a:t>Start a CAE training run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7377F"/>
                          </a:solidFill>
                          <a:latin typeface="Aptos"/>
                        </a:rPr>
                        <a:t>POST /predict, /predict/upload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686783"/>
                          </a:solidFill>
                          <a:latin typeface="Aptos"/>
                        </a:rPr>
                        <a:t>Predict from a path or uploaded image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7377F"/>
                          </a:solidFill>
                          <a:latin typeface="Aptos"/>
                        </a:rPr>
                        <a:t>GET /batches/status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686783"/>
                          </a:solidFill>
                          <a:latin typeface="Aptos"/>
                        </a:rPr>
                        <a:t>Retrieve dataset batch status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7377F"/>
                          </a:solidFill>
                          <a:latin typeface="Aptos"/>
                        </a:rPr>
                        <a:t>POST /batches/release-next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686783"/>
                          </a:solidFill>
                          <a:latin typeface="Aptos"/>
                        </a:rPr>
                        <a:t>Release the next data batch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7377F"/>
                          </a:solidFill>
                          <a:latin typeface="Aptos"/>
                        </a:rPr>
                        <a:t>POST /monitoring/drift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686783"/>
                          </a:solidFill>
                          <a:latin typeface="Aptos"/>
                        </a:rPr>
                        <a:t>Generate a data-drift report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7377F"/>
                          </a:solidFill>
                          <a:latin typeface="Aptos"/>
                        </a:rPr>
                        <a:t>GET /metrics, /health/db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686783"/>
                          </a:solidFill>
                          <a:latin typeface="Aptos"/>
                        </a:rPr>
                        <a:t>API metrics / database health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api/main.py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30968F60-2E57-99E8-203A-4038412F3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B800F5D9-BB25-4046-AD36-D381E7EE1743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38421000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2940D57-3A51-412E-A8A6-13E26629A0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EF8161-C408-4849-8DD8-B1C7B461F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2BF9E85D-91E3-463A-9531-E61090EFD8C7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MOHAMED / MODEL SERVING">
            <a:extLst>
              <a:ext uri="{FF2B5EF4-FFF2-40B4-BE49-F238E27FC236}">
                <a16:creationId xmlns:a16="http://schemas.microsoft.com/office/drawing/2014/main" id="{0B8AE6CC-5BCA-4766-A228-FC7CC846A745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MODEL SERVING</a:t>
            </a:r>
          </a:p>
        </p:txBody>
      </p:sp>
      <p:sp>
        <p:nvSpPr>
          <p:cNvPr id="9" name="Inferencja: obraz i decyzja dla operatora">
            <a:extLst>
              <a:ext uri="{FF2B5EF4-FFF2-40B4-BE49-F238E27FC236}">
                <a16:creationId xmlns:a16="http://schemas.microsoft.com/office/drawing/2014/main" id="{7B02E71C-DC18-4976-969A-6B51F5F9E1DE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Inference: from image to decision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CDF057-228E-47F9-9FB3-E64597BD85DF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7D368327-3A67-4BBB-83A4-48793E6C7FB6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Mohamed Bouraaman">
            <a:extLst>
              <a:ext uri="{FF2B5EF4-FFF2-40B4-BE49-F238E27FC236}">
                <a16:creationId xmlns:a16="http://schemas.microsoft.com/office/drawing/2014/main" id="{D728D665-2A6F-4EB6-9AA9-C496CD238F90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Mohamed Bouraaman</a:t>
            </a:r>
          </a:p>
        </p:txBody>
      </p:sp>
      <p:sp>
        <p:nvSpPr>
          <p:cNvPr id="13" name="16 / 26">
            <a:extLst>
              <a:ext uri="{FF2B5EF4-FFF2-40B4-BE49-F238E27FC236}">
                <a16:creationId xmlns:a16="http://schemas.microsoft.com/office/drawing/2014/main" id="{194630EF-C9E7-4ABA-A2A5-1C0DEBC2D644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16 /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The prediction service loads the current champion from the MLflow Registry</a:t>
            </a:r>
          </a:p>
        </p:txBody>
      </p:sp>
      <p:sp>
        <p:nvSpPr>
          <p:cNvPr id="35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Image file + category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File path or upload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7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Load champion from MLflow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Normalize image to 128 × 128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Score and compare with 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9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normal / anomaly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Score, threshold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Model name and 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3639312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Model serving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load_champion() queries the MLflow Registry.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The per-category cache reloads when the champion changes.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4" y="3639312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Traceability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Every response contains an anomaly score.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The prediction identifies the model version used.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src/predict.py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8A204C09-C7A0-80B8-5232-4B02DA236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960CF0FA-009F-4AB9-85BD-36DD35DE5201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2832655685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9D3D4CB-CD41-47A0-9ED7-724F4759D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A90D5F-37EC-4576-927D-CB4078FD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3ABB902F-4CA6-485D-8B17-1F6C9B802B83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MODEL REGISTRY">
            <a:extLst>
              <a:ext uri="{FF2B5EF4-FFF2-40B4-BE49-F238E27FC236}">
                <a16:creationId xmlns:a16="http://schemas.microsoft.com/office/drawing/2014/main" id="{5107184E-6F83-4E1A-B1CA-F77E5E9F855F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MLflow MODEL REGISTRY</a:t>
            </a:r>
          </a:p>
        </p:txBody>
      </p:sp>
      <p:sp>
        <p:nvSpPr>
          <p:cNvPr id="9" name="Nowy model trafia do użycia po porównaniu">
            <a:extLst>
              <a:ext uri="{FF2B5EF4-FFF2-40B4-BE49-F238E27FC236}">
                <a16:creationId xmlns:a16="http://schemas.microsoft.com/office/drawing/2014/main" id="{78D7FB2F-62F3-45A3-8E5E-8E06FA028E72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MLflow Model Registry: champion selection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549222-81CD-4A5F-8771-C2C82A91A0D5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DF186764-5116-4B96-8CEA-4C22853D4944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D4249156-A890-468A-9586-BFCA4BFB29C4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17 / 26">
            <a:extLst>
              <a:ext uri="{FF2B5EF4-FFF2-40B4-BE49-F238E27FC236}">
                <a16:creationId xmlns:a16="http://schemas.microsoft.com/office/drawing/2014/main" id="{C1F4F58A-B014-439A-945A-5F8769FF4B65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17 / 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Newly trained models do not automatically replace the serving model</a:t>
            </a:r>
          </a:p>
        </p:txBody>
      </p:sp>
      <p:sp>
        <p:nvSpPr>
          <p:cNvPr id="36" name="Kandydat"/>
          <p:cNvSpPr/>
          <p:nvPr/>
        </p:nvSpPr>
        <p:spPr>
          <a:xfrm>
            <a:off x="475488" y="2331720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Candidate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New model version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test_auroc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031236" y="2811779"/>
            <a:ext cx="301752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8" name="Porównanie"/>
          <p:cNvSpPr/>
          <p:nvPr/>
        </p:nvSpPr>
        <p:spPr>
          <a:xfrm>
            <a:off x="3387852" y="2331720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Comparison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Candidate better than champion?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599" y="2811779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0" name="Registry"/>
          <p:cNvSpPr/>
          <p:nvPr/>
        </p:nvSpPr>
        <p:spPr>
          <a:xfrm>
            <a:off x="6300216" y="2331720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Registry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Move champion alias if better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55964" y="2811779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2" name="Wdrożenie"/>
          <p:cNvSpPr/>
          <p:nvPr/>
        </p:nvSpPr>
        <p:spPr>
          <a:xfrm>
            <a:off x="9212580" y="2331720"/>
            <a:ext cx="2500884" cy="960120"/>
          </a:xfrm>
          <a:prstGeom prst="roundRect">
            <a:avLst>
              <a:gd name="adj" fmla="val 15238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Deployment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Inference loads champion model</a:t>
            </a:r>
          </a:p>
        </p:txBody>
      </p:sp>
      <p:sp>
        <p:nvSpPr>
          <p:cNvPr id="43" name="Reguły wyboru"/>
          <p:cNvSpPr/>
          <p:nvPr/>
        </p:nvSpPr>
        <p:spPr>
          <a:xfrm>
            <a:off x="475488" y="3611880"/>
            <a:ext cx="5440680" cy="1645920"/>
          </a:xfrm>
          <a:prstGeom prst="roundRect">
            <a:avLst>
              <a:gd name="adj" fmla="val 8888"/>
            </a:avLst>
          </a:prstGeom>
          <a:solidFill>
            <a:srgbClr val="EAE8F5"/>
          </a:solidFill>
          <a:ln>
            <a:noFill/>
          </a:ln>
        </p:spPr>
        <p:txBody>
          <a:bodyPr wrap="square" lIns="201168" tIns="146304" rIns="182880" bIns="91440" rtlCol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Selection rules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The first registered model becomes champion.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A new model is promoted only if AUROC is strictly higher.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A tie keeps the existing champion.</a:t>
            </a:r>
          </a:p>
        </p:txBody>
      </p:sp>
      <p:sp>
        <p:nvSpPr>
          <p:cNvPr id="44" name="Korzyść operacyjna"/>
          <p:cNvSpPr/>
          <p:nvPr/>
        </p:nvSpPr>
        <p:spPr>
          <a:xfrm>
            <a:off x="6272783" y="3611880"/>
            <a:ext cx="5440679" cy="1645920"/>
          </a:xfrm>
          <a:prstGeom prst="roundRect">
            <a:avLst>
              <a:gd name="adj" fmla="val 8888"/>
            </a:avLst>
          </a:prstGeom>
          <a:solidFill>
            <a:srgbClr val="EAE8F5"/>
          </a:solidFill>
          <a:ln>
            <a:noFill/>
          </a:ln>
        </p:spPr>
        <p:txBody>
          <a:bodyPr wrap="square" lIns="201168" tIns="146304" rIns="182880" bIns="91440" rtlCol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Operational benefit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Registries: cae-bottle, cae-wood, cae-pill.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Model and category threshold are kept together.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src/training.py: register_and_select_champion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410A47D1-5E30-284C-56BA-464C93C9B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FEF9A0AE-D7AE-4758-BB2D-00C2FD03F8B2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1714795884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56239E9-6226-4461-88A9-2A613BAEC4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38AFBD-6F69-4F80-91D7-4407A4E32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F06E7744-B192-4CA4-9DDE-DB314CC8881A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CODZIENNA PRACA">
            <a:extLst>
              <a:ext uri="{FF2B5EF4-FFF2-40B4-BE49-F238E27FC236}">
                <a16:creationId xmlns:a16="http://schemas.microsoft.com/office/drawing/2014/main" id="{E1355979-1BEF-49EB-8C37-50FD7DF53CBA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9" name="Operator uruchamia ocenę przez Streamlit">
            <a:extLst>
              <a:ext uri="{FF2B5EF4-FFF2-40B4-BE49-F238E27FC236}">
                <a16:creationId xmlns:a16="http://schemas.microsoft.com/office/drawing/2014/main" id="{0E5165A0-3DA8-452A-BD65-859C6BF9B984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Streamlit: interactive project interface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DF54E7-0273-43EF-BA23-660917D71230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069E1857-F763-43C9-8842-825DA97E6C2F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50009E39-DD3A-4616-89B9-7F5D32AA189E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18 / 26">
            <a:extLst>
              <a:ext uri="{FF2B5EF4-FFF2-40B4-BE49-F238E27FC236}">
                <a16:creationId xmlns:a16="http://schemas.microsoft.com/office/drawing/2014/main" id="{C4F947A0-FFD7-40C0-A0E7-B672875D533F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18 /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An interactive demonstration layer that communicates with FastAPI</a:t>
            </a:r>
          </a:p>
        </p:txBody>
      </p:sp>
      <p:sp>
        <p:nvSpPr>
          <p:cNvPr id="35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User selects category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Sample image or file upload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7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Streamlit sends HTTP requests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to http://api:8000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9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Visualize anomaly score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Threshold, decision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Model version and 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3657600"/>
            <a:ext cx="434340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Presentation content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Problem overview and datasets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MLflow and interactive model demonstration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Decision logic and system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3657600"/>
            <a:ext cx="434340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Interactive capabilities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API and database health information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Sample selection and file uploads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Prediction and ground truth where available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5404104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 i="0">
                <a:solidFill>
                  <a:srgbClr val="686783"/>
                </a:solidFill>
                <a:latin typeface="Aptos"/>
              </a:rPr>
              <a:t>Illustration: MVTec AD image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frontend/app.py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74C915C3-CDC6-4C85-0F48-9D59A9163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288EC685-E200-42D9-9630-8AE75661A741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  <p:pic>
        <p:nvPicPr>
          <p:cNvPr id="45" name="Copied Picture 45" descr="MVTec AD wood sample">
            <a:extLst>
              <a:ext uri="{FF2B5EF4-FFF2-40B4-BE49-F238E27FC236}">
                <a16:creationId xmlns:a16="http://schemas.microsoft.com/office/drawing/2014/main" id="{2C39AE92-1ACD-4805-A3D1-5FE8C197D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18700" y="3657600"/>
            <a:ext cx="1689100" cy="16891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27900460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1DBC4C4-9951-4B70-B8BC-E712879048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9EF1BF-D298-47B4-A412-5EFC6F3FD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1C209E15-167B-4308-A3BA-FCC194148B97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PRZEWODNIK PO APLIKACJI">
            <a:extLst>
              <a:ext uri="{FF2B5EF4-FFF2-40B4-BE49-F238E27FC236}">
                <a16:creationId xmlns:a16="http://schemas.microsoft.com/office/drawing/2014/main" id="{563A9BAF-1F10-4839-ABD1-3E116AC015A5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SPOTLIGHT GUIDED TOUR</a:t>
            </a:r>
          </a:p>
        </p:txBody>
      </p:sp>
      <p:sp>
        <p:nvSpPr>
          <p:cNvPr id="9" name="Spotlight wyjaśnia działanie interfejsu">
            <a:extLst>
              <a:ext uri="{FF2B5EF4-FFF2-40B4-BE49-F238E27FC236}">
                <a16:creationId xmlns:a16="http://schemas.microsoft.com/office/drawing/2014/main" id="{972489CA-F72A-4A4C-97C4-F5AEB8A7DD50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Spotlight: guided UI walkthrough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09066F-FEBD-46D5-8B99-EFE621188C6A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DFC0A213-3328-42AD-A324-8B38CC4BADBA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9EE6B619-1394-4F22-885C-1FCF8651D9D4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19 / 26">
            <a:extLst>
              <a:ext uri="{FF2B5EF4-FFF2-40B4-BE49-F238E27FC236}">
                <a16:creationId xmlns:a16="http://schemas.microsoft.com/office/drawing/2014/main" id="{889358E3-9F48-4DE7-922F-AC348D4E2DF5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19 / 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An interactive tour helps explain the Streamlit application</a:t>
            </a:r>
          </a:p>
        </p:txBody>
      </p:sp>
      <p:sp>
        <p:nvSpPr>
          <p:cNvPr id="32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Streamlit page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Predefined UI targets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4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JavaScript and CSS highlight elements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Contextual guidance at each step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6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Guided tour: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function, system role, implementation and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3611880"/>
            <a:ext cx="11237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WHAT THE TOUR EXPLAINS</a:t>
            </a:r>
          </a:p>
        </p:txBody>
      </p:sp>
      <p:sp>
        <p:nvSpPr>
          <p:cNvPr id="38" name="card"/>
          <p:cNvSpPr/>
          <p:nvPr/>
        </p:nvSpPr>
        <p:spPr>
          <a:xfrm>
            <a:off x="475488" y="3886200"/>
            <a:ext cx="2603753" cy="457200"/>
          </a:xfrm>
          <a:prstGeom prst="roundRect">
            <a:avLst>
              <a:gd name="adj" fmla="val 32000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450" b="1" i="0">
                <a:solidFill>
                  <a:srgbClr val="37377F"/>
                </a:solidFill>
                <a:latin typeface="Aptos"/>
              </a:rPr>
              <a:t>Function</a:t>
            </a:r>
          </a:p>
        </p:txBody>
      </p:sp>
      <p:sp>
        <p:nvSpPr>
          <p:cNvPr id="39" name="card"/>
          <p:cNvSpPr/>
          <p:nvPr/>
        </p:nvSpPr>
        <p:spPr>
          <a:xfrm>
            <a:off x="3353561" y="3886200"/>
            <a:ext cx="2603753" cy="457200"/>
          </a:xfrm>
          <a:prstGeom prst="roundRect">
            <a:avLst>
              <a:gd name="adj" fmla="val 32000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450" b="1" i="0">
                <a:solidFill>
                  <a:srgbClr val="37377F"/>
                </a:solidFill>
                <a:latin typeface="Aptos"/>
              </a:rPr>
              <a:t>System role</a:t>
            </a:r>
          </a:p>
        </p:txBody>
      </p:sp>
      <p:sp>
        <p:nvSpPr>
          <p:cNvPr id="40" name="card"/>
          <p:cNvSpPr/>
          <p:nvPr/>
        </p:nvSpPr>
        <p:spPr>
          <a:xfrm>
            <a:off x="6231636" y="3886200"/>
            <a:ext cx="2603753" cy="457200"/>
          </a:xfrm>
          <a:prstGeom prst="roundRect">
            <a:avLst>
              <a:gd name="adj" fmla="val 32000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450" b="1" i="0">
                <a:solidFill>
                  <a:srgbClr val="37377F"/>
                </a:solidFill>
                <a:latin typeface="Aptos"/>
              </a:rPr>
              <a:t>Implementation</a:t>
            </a:r>
          </a:p>
        </p:txBody>
      </p:sp>
      <p:sp>
        <p:nvSpPr>
          <p:cNvPr id="41" name="card"/>
          <p:cNvSpPr/>
          <p:nvPr/>
        </p:nvSpPr>
        <p:spPr>
          <a:xfrm>
            <a:off x="9109709" y="3886200"/>
            <a:ext cx="2603753" cy="457200"/>
          </a:xfrm>
          <a:prstGeom prst="roundRect">
            <a:avLst>
              <a:gd name="adj" fmla="val 32000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450" b="1" i="0">
                <a:solidFill>
                  <a:srgbClr val="37377F"/>
                </a:solidFill>
                <a:latin typeface="Aptos"/>
              </a:rPr>
              <a:t>Decisions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4544568"/>
            <a:ext cx="53949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Purpose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Make the application easier to present and understand.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Connect interface sections with technical components.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4544568"/>
            <a:ext cx="53949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Technical separation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spotlight.py defines the tour content and steps.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Spotlight does not train models or change data.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frontend/spotlight.py, frontend/spotlight/spotlight.js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87205818-9EA7-C3D9-AED8-E5C687954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70A10B8C-C8B5-4892-891B-26BF641A85DD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3760957963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7A76146-DD05-4289-83F1-E658F946A4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DB71D7-7662-479E-BA5A-4C35A7A1D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CA9C0AAC-E331-4DF0-AA43-7D570666120A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DATA DRIFT">
            <a:extLst>
              <a:ext uri="{FF2B5EF4-FFF2-40B4-BE49-F238E27FC236}">
                <a16:creationId xmlns:a16="http://schemas.microsoft.com/office/drawing/2014/main" id="{D17CE934-29EE-490B-BFF4-D427B1892A54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DATA DRIFT</a:t>
            </a:r>
          </a:p>
        </p:txBody>
      </p:sp>
      <p:sp>
        <p:nvSpPr>
          <p:cNvPr id="9" name="Evidently wykrywa zmianę warunków obrazu">
            <a:extLst>
              <a:ext uri="{FF2B5EF4-FFF2-40B4-BE49-F238E27FC236}">
                <a16:creationId xmlns:a16="http://schemas.microsoft.com/office/drawing/2014/main" id="{266AED90-26B9-4357-9A72-5BC608FF2C3B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Evidently: data-drift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C53F9-A101-4858-9A17-A74ACACDE203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8412278B-1B90-4ADF-B47C-7A59F512A336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F63D7CE6-D1D3-44CB-8DC2-AD33E2BBFF98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20 / 26">
            <a:extLst>
              <a:ext uri="{FF2B5EF4-FFF2-40B4-BE49-F238E27FC236}">
                <a16:creationId xmlns:a16="http://schemas.microsoft.com/office/drawing/2014/main" id="{4AE7A723-0B19-4779-8CCA-BBCBC2E87DCF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 / 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Detect changes in image characteristics relative to the training reference</a:t>
            </a:r>
          </a:p>
        </p:txBody>
      </p:sp>
      <p:sp>
        <p:nvSpPr>
          <p:cNvPr id="37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Reference: training images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Current: predictions in last 24 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9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Extract four image features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Compare their distributions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1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Feature-level drift results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Drifted feature share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Report in PostgreSQL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35661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Image features</a:t>
            </a:r>
          </a:p>
        </p:txBody>
      </p:sp>
      <p:sp>
        <p:nvSpPr>
          <p:cNvPr id="43" name="card"/>
          <p:cNvSpPr/>
          <p:nvPr/>
        </p:nvSpPr>
        <p:spPr>
          <a:xfrm>
            <a:off x="475488" y="3931920"/>
            <a:ext cx="2606040" cy="457200"/>
          </a:xfrm>
          <a:prstGeom prst="roundRect">
            <a:avLst>
              <a:gd name="adj" fmla="val 32000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400" b="1" i="0">
                <a:solidFill>
                  <a:srgbClr val="37377F"/>
                </a:solidFill>
                <a:latin typeface="Aptos"/>
              </a:rPr>
              <a:t>Brightness</a:t>
            </a:r>
          </a:p>
        </p:txBody>
      </p:sp>
      <p:sp>
        <p:nvSpPr>
          <p:cNvPr id="44" name="card"/>
          <p:cNvSpPr/>
          <p:nvPr/>
        </p:nvSpPr>
        <p:spPr>
          <a:xfrm>
            <a:off x="3218688" y="3931920"/>
            <a:ext cx="2606040" cy="457200"/>
          </a:xfrm>
          <a:prstGeom prst="roundRect">
            <a:avLst>
              <a:gd name="adj" fmla="val 32000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400" b="1" i="0">
                <a:solidFill>
                  <a:srgbClr val="37377F"/>
                </a:solidFill>
                <a:latin typeface="Aptos"/>
              </a:rPr>
              <a:t>Contrast</a:t>
            </a:r>
          </a:p>
        </p:txBody>
      </p:sp>
      <p:sp>
        <p:nvSpPr>
          <p:cNvPr id="45" name="card"/>
          <p:cNvSpPr/>
          <p:nvPr/>
        </p:nvSpPr>
        <p:spPr>
          <a:xfrm>
            <a:off x="475488" y="4480559"/>
            <a:ext cx="2606040" cy="457200"/>
          </a:xfrm>
          <a:prstGeom prst="roundRect">
            <a:avLst>
              <a:gd name="adj" fmla="val 32000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400" b="1" i="0">
                <a:solidFill>
                  <a:srgbClr val="37377F"/>
                </a:solidFill>
                <a:latin typeface="Aptos"/>
              </a:rPr>
              <a:t>Sharpness (Laplacian)</a:t>
            </a:r>
          </a:p>
        </p:txBody>
      </p:sp>
      <p:sp>
        <p:nvSpPr>
          <p:cNvPr id="46" name="card"/>
          <p:cNvSpPr/>
          <p:nvPr/>
        </p:nvSpPr>
        <p:spPr>
          <a:xfrm>
            <a:off x="3218688" y="4480559"/>
            <a:ext cx="2606040" cy="457200"/>
          </a:xfrm>
          <a:prstGeom prst="roundRect">
            <a:avLst>
              <a:gd name="adj" fmla="val 32000"/>
            </a:avLst>
          </a:prstGeom>
          <a:solidFill>
            <a:srgbClr val="DFDCF0"/>
          </a:solidFill>
          <a:ln>
            <a:noFill/>
          </a:ln>
        </p:spPr>
        <p:txBody>
          <a:bodyPr wrap="square" lIns="54864" tIns="18288" rIns="54864" bIns="18288" rtlCol="0" anchor="ctr">
            <a:noAutofit/>
          </a:bodyPr>
          <a:lstStyle/>
          <a:p>
            <a:pPr algn="ctr"/>
            <a:r>
              <a:rPr sz="1400" b="1" i="0">
                <a:solidFill>
                  <a:srgbClr val="37377F"/>
                </a:solidFill>
                <a:latin typeface="Aptos"/>
              </a:rPr>
              <a:t>Saturation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3566160"/>
            <a:ext cx="5394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Orchestration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Separate hourly Airflow DAG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POST /monitoring/drift for each category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Requires at least 10 recent predictions</a:t>
            </a:r>
          </a:p>
        </p:txBody>
      </p:sp>
      <p:sp>
        <p:nvSpPr>
          <p:cNvPr id="48" name="accent"/>
          <p:cNvSpPr/>
          <p:nvPr/>
        </p:nvSpPr>
        <p:spPr>
          <a:xfrm>
            <a:off x="475488" y="5321808"/>
            <a:ext cx="667512" cy="13716"/>
          </a:xfrm>
          <a:prstGeom prst="rect">
            <a:avLst/>
          </a:prstGeom>
          <a:solidFill>
            <a:srgbClr val="E6B0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62456" y="5166360"/>
            <a:ext cx="1035100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Input data drift does not necessarily mean worse anomaly detection performance.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src/monitoring.py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4D295173-565E-93F6-4C2C-AD8E59FB7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059EC3D8-0CCB-4F13-A59A-DF7EB9F42C91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4047552260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72CF641-D611-43FE-B27D-2CE739C90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FC0F2B-D3FE-465F-BB8D-E75211BF5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1EE98A8F-03A8-4B47-A950-4B6896BA9BAE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METRYKI I ALERTY">
            <a:extLst>
              <a:ext uri="{FF2B5EF4-FFF2-40B4-BE49-F238E27FC236}">
                <a16:creationId xmlns:a16="http://schemas.microsoft.com/office/drawing/2014/main" id="{6CD9D331-738C-4369-B257-ABFC466DA1AA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METRICS AND ALERTS</a:t>
            </a:r>
          </a:p>
        </p:txBody>
      </p:sp>
      <p:sp>
        <p:nvSpPr>
          <p:cNvPr id="9" name="Prometheus obserwuje działanie API">
            <a:extLst>
              <a:ext uri="{FF2B5EF4-FFF2-40B4-BE49-F238E27FC236}">
                <a16:creationId xmlns:a16="http://schemas.microsoft.com/office/drawing/2014/main" id="{0515C24B-6BF5-4861-A067-F263CB72CCEE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Prometheus: API performance and alerts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BFBE8B-F52F-4D9F-BFD1-757549DB8CF5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F8AF7A11-FEFB-4F4A-94EA-7417FA0DF76F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99C2118D-0424-467B-9B09-74E92C406BA8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21 / 26">
            <a:extLst>
              <a:ext uri="{FF2B5EF4-FFF2-40B4-BE49-F238E27FC236}">
                <a16:creationId xmlns:a16="http://schemas.microsoft.com/office/drawing/2014/main" id="{AAE42A7A-E3CF-4153-A6EC-5D7B5C2B819F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21 / 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Monitor service health independently of machine learning quality</a:t>
            </a:r>
          </a:p>
        </p:txBody>
      </p:sp>
      <p:sp>
        <p:nvSpPr>
          <p:cNvPr id="37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FastAPI /metrics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Requests, latency, CPU, memory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9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Prometheus collects metrics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15-second scraping + alert rules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1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Time series and alerts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API unavailable, errors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Slow predictions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3611880"/>
            <a:ext cx="416052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Observed signals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Request latency and HTTP status per endpoint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Concurrent HTTP requests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686783"/>
                </a:solidFill>
                <a:latin typeface="Aptos"/>
              </a:rPr>
              <a:t>CPU and memory usage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3611880"/>
            <a:ext cx="682142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Example alert conditions</a:t>
            </a:r>
          </a:p>
        </p:txBody>
      </p:sp>
      <p:sp>
        <p:nvSpPr>
          <p:cNvPr id="44" name="&gt; 1 min"/>
          <p:cNvSpPr/>
          <p:nvPr/>
        </p:nvSpPr>
        <p:spPr>
          <a:xfrm>
            <a:off x="4892040" y="3959352"/>
            <a:ext cx="2090928" cy="1371600"/>
          </a:xfrm>
          <a:prstGeom prst="roundRect">
            <a:avLst>
              <a:gd name="adj" fmla="val 10666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28016" rIns="128016" bIns="73152" rtlCol="0" anchor="t">
            <a:noAutofit/>
          </a:bodyPr>
          <a:lstStyle/>
          <a:p>
            <a:pPr algn="l"/>
            <a:r>
              <a:rPr sz="2400" b="1" i="0">
                <a:solidFill>
                  <a:srgbClr val="37377F"/>
                </a:solidFill>
                <a:latin typeface="Aptos"/>
              </a:rPr>
              <a:t>&gt; 1 min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API unavailable for over one minute</a:t>
            </a:r>
          </a:p>
        </p:txBody>
      </p:sp>
      <p:sp>
        <p:nvSpPr>
          <p:cNvPr id="45" name="&gt; 5%"/>
          <p:cNvSpPr/>
          <p:nvPr/>
        </p:nvSpPr>
        <p:spPr>
          <a:xfrm>
            <a:off x="7257287" y="3959352"/>
            <a:ext cx="2090928" cy="1371600"/>
          </a:xfrm>
          <a:prstGeom prst="roundRect">
            <a:avLst>
              <a:gd name="adj" fmla="val 10666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28016" rIns="128016" bIns="73152" rtlCol="0" anchor="t">
            <a:noAutofit/>
          </a:bodyPr>
          <a:lstStyle/>
          <a:p>
            <a:pPr algn="l"/>
            <a:r>
              <a:rPr sz="2400" b="1" i="0">
                <a:solidFill>
                  <a:srgbClr val="37377F"/>
                </a:solidFill>
                <a:latin typeface="Aptos"/>
              </a:rPr>
              <a:t>&gt; 5%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HTTP 5xx error ratio above 5%</a:t>
            </a:r>
          </a:p>
        </p:txBody>
      </p:sp>
      <p:sp>
        <p:nvSpPr>
          <p:cNvPr id="46" name="&gt; 2 s"/>
          <p:cNvSpPr/>
          <p:nvPr/>
        </p:nvSpPr>
        <p:spPr>
          <a:xfrm>
            <a:off x="9622536" y="3959352"/>
            <a:ext cx="2090928" cy="1371600"/>
          </a:xfrm>
          <a:prstGeom prst="roundRect">
            <a:avLst>
              <a:gd name="adj" fmla="val 10666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28016" rIns="128016" bIns="73152" rtlCol="0" anchor="t">
            <a:noAutofit/>
          </a:bodyPr>
          <a:lstStyle/>
          <a:p>
            <a:pPr algn="l"/>
            <a:r>
              <a:rPr sz="2400" b="1" i="0">
                <a:solidFill>
                  <a:srgbClr val="37377F"/>
                </a:solidFill>
                <a:latin typeface="Aptos"/>
              </a:rPr>
              <a:t>&gt; 2 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Prediction p95 latency above 2 seconds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api/main.py, monitoring/prometheus.yml, monitoring/alert_rules.yml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B9CF98C0-E5BB-5A22-20A6-FE9C7B354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223E1513-74B6-4074-8CCF-CD240E13DDF6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1091861761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AC5396A-1929-4BA2-BF5B-1D54D75CA8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C9A57C-1CFF-4A87-9F8E-02A94716E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4F61667B-E84F-46B7-8FF7-C4B0DE369A97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OBSERWACJA">
            <a:extLst>
              <a:ext uri="{FF2B5EF4-FFF2-40B4-BE49-F238E27FC236}">
                <a16:creationId xmlns:a16="http://schemas.microsoft.com/office/drawing/2014/main" id="{38AA0D71-D806-43AC-92EC-61260920AF37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GRAFANA</a:t>
            </a:r>
          </a:p>
        </p:txBody>
      </p:sp>
      <p:sp>
        <p:nvSpPr>
          <p:cNvPr id="9" name="Grafana łączy diagnostykę usługi i danych">
            <a:extLst>
              <a:ext uri="{FF2B5EF4-FFF2-40B4-BE49-F238E27FC236}">
                <a16:creationId xmlns:a16="http://schemas.microsoft.com/office/drawing/2014/main" id="{D41EFBD2-34F6-473F-A9F3-17896EE2152A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Grafana: operational and data dashboards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806DD-BB06-4265-8D4B-A1E0934E7B72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6C0B0640-B414-43E0-BCE0-3313B9722FCC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E28FEE94-4002-432B-9F73-E595E755E100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22 / 26">
            <a:extLst>
              <a:ext uri="{FF2B5EF4-FFF2-40B4-BE49-F238E27FC236}">
                <a16:creationId xmlns:a16="http://schemas.microsoft.com/office/drawing/2014/main" id="{6324DBD4-ECA1-4D1C-A05A-4F5E516723C8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22 / 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Two data sources provide complementary operational perspectives</a:t>
            </a:r>
          </a:p>
        </p:txBody>
      </p:sp>
      <p:sp>
        <p:nvSpPr>
          <p:cNvPr id="30" name="FastAPI"/>
          <p:cNvSpPr/>
          <p:nvPr/>
        </p:nvSpPr>
        <p:spPr>
          <a:xfrm>
            <a:off x="475488" y="2642616"/>
            <a:ext cx="2011680" cy="676656"/>
          </a:xfrm>
          <a:prstGeom prst="roundRect">
            <a:avLst>
              <a:gd name="adj" fmla="val 21621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FastAPI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/metrics</a:t>
            </a:r>
          </a:p>
        </p:txBody>
      </p:sp>
      <p:sp>
        <p:nvSpPr>
          <p:cNvPr id="31" name="Prometheus"/>
          <p:cNvSpPr/>
          <p:nvPr/>
        </p:nvSpPr>
        <p:spPr>
          <a:xfrm>
            <a:off x="2898648" y="2395728"/>
            <a:ext cx="2606040" cy="1170432"/>
          </a:xfrm>
          <a:prstGeom prst="roundRect">
            <a:avLst>
              <a:gd name="adj" fmla="val 12500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Prometheus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686783"/>
                </a:solidFill>
                <a:latin typeface="Aptos"/>
              </a:rPr>
              <a:t>API latency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686783"/>
                </a:solidFill>
                <a:latin typeface="Aptos"/>
              </a:rPr>
              <a:t>Error rates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686783"/>
                </a:solidFill>
                <a:latin typeface="Aptos"/>
              </a:rPr>
              <a:t>Resource use</a:t>
            </a:r>
          </a:p>
        </p:txBody>
      </p:sp>
      <p:sp>
        <p:nvSpPr>
          <p:cNvPr id="32" name="Evidently"/>
          <p:cNvSpPr/>
          <p:nvPr/>
        </p:nvSpPr>
        <p:spPr>
          <a:xfrm>
            <a:off x="475488" y="4105656"/>
            <a:ext cx="2011680" cy="676656"/>
          </a:xfrm>
          <a:prstGeom prst="roundRect">
            <a:avLst>
              <a:gd name="adj" fmla="val 21621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00" b="1" i="0">
                <a:solidFill>
                  <a:srgbClr val="37377F"/>
                </a:solidFill>
                <a:latin typeface="Aptos"/>
              </a:rPr>
              <a:t>Evidently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Drift reports</a:t>
            </a:r>
          </a:p>
        </p:txBody>
      </p:sp>
      <p:sp>
        <p:nvSpPr>
          <p:cNvPr id="33" name="PostgreSQL"/>
          <p:cNvSpPr/>
          <p:nvPr/>
        </p:nvSpPr>
        <p:spPr>
          <a:xfrm>
            <a:off x="2898648" y="3858768"/>
            <a:ext cx="2606040" cy="1170432"/>
          </a:xfrm>
          <a:prstGeom prst="roundRect">
            <a:avLst>
              <a:gd name="adj" fmla="val 12500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PostgreSQL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686783"/>
                </a:solidFill>
                <a:latin typeface="Aptos"/>
              </a:rPr>
              <a:t>Drift reports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686783"/>
                </a:solidFill>
                <a:latin typeface="Aptos"/>
              </a:rPr>
              <a:t>Image features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686783"/>
                </a:solidFill>
                <a:latin typeface="Aptos"/>
              </a:rPr>
              <a:t>Historical trends</a:t>
            </a:r>
          </a:p>
        </p:txBody>
      </p:sp>
      <p:sp>
        <p:nvSpPr>
          <p:cNvPr id="34" name="Grafana"/>
          <p:cNvSpPr/>
          <p:nvPr/>
        </p:nvSpPr>
        <p:spPr>
          <a:xfrm>
            <a:off x="6172200" y="3145535"/>
            <a:ext cx="2606040" cy="1133856"/>
          </a:xfrm>
          <a:prstGeom prst="roundRect">
            <a:avLst>
              <a:gd name="adj" fmla="val 12903"/>
            </a:avLst>
          </a:prstGeom>
          <a:solidFill>
            <a:srgbClr val="DFDCF0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Grafana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86783"/>
                </a:solidFill>
                <a:latin typeface="Aptos"/>
              </a:rPr>
              <a:t>Provisioned data sources and dashboards</a:t>
            </a:r>
          </a:p>
        </p:txBody>
      </p:sp>
      <p:sp>
        <p:nvSpPr>
          <p:cNvPr id="35" name="Wyjście"/>
          <p:cNvSpPr/>
          <p:nvPr/>
        </p:nvSpPr>
        <p:spPr>
          <a:xfrm>
            <a:off x="9418320" y="3145535"/>
            <a:ext cx="2295143" cy="1133856"/>
          </a:xfrm>
          <a:prstGeom prst="roundRect">
            <a:avLst>
              <a:gd name="adj" fmla="val 12903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686783"/>
                </a:solidFill>
                <a:latin typeface="Aptos"/>
              </a:rPr>
              <a:t>API Health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686783"/>
                </a:solidFill>
                <a:latin typeface="Aptos"/>
              </a:rPr>
              <a:t>Data Drift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32888" y="2980944"/>
            <a:ext cx="320040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37" name="Connector 36"/>
          <p:cNvCxnSpPr/>
          <p:nvPr/>
        </p:nvCxnSpPr>
        <p:spPr>
          <a:xfrm>
            <a:off x="2532888" y="4443983"/>
            <a:ext cx="320040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38" name="Connector 37"/>
          <p:cNvCxnSpPr/>
          <p:nvPr/>
        </p:nvCxnSpPr>
        <p:spPr>
          <a:xfrm>
            <a:off x="5550407" y="2980944"/>
            <a:ext cx="576073" cy="484631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 flipV="1">
            <a:off x="5550407" y="3959351"/>
            <a:ext cx="576073" cy="484632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8823960" y="3712463"/>
            <a:ext cx="548640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475488" y="5193792"/>
            <a:ext cx="1123797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37377F"/>
                </a:solidFill>
                <a:latin typeface="Aptos"/>
              </a:rPr>
              <a:t>Evidently creates drift reports stored in PostgreSQL. Prometheus collects technical API metrics. Grafana visualizes both sources in separate dashboards.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monitoring/grafana/dashboards, monitoring/grafana/provisioning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CD7BE8BE-2E19-CEBF-D3ED-D21AE003C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E3BD6E16-1BEF-4128-828D-813B91DA6691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262669075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B18651A-7ACE-4E49-B574-BFBD6DFA4C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3A81AA-4215-4085-BA3B-C9DD02411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93126D02-A6E5-497C-BDB1-DDB06261D93A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WNIOSKI">
            <a:extLst>
              <a:ext uri="{FF2B5EF4-FFF2-40B4-BE49-F238E27FC236}">
                <a16:creationId xmlns:a16="http://schemas.microsoft.com/office/drawing/2014/main" id="{84099537-0140-4EDD-9B1B-69A2368AFA46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TECHNICAL ASSESSMENT</a:t>
            </a:r>
          </a:p>
        </p:txBody>
      </p:sp>
      <p:sp>
        <p:nvSpPr>
          <p:cNvPr id="9" name="Ocena techniczna i dalsze usprawnienia">
            <a:extLst>
              <a:ext uri="{FF2B5EF4-FFF2-40B4-BE49-F238E27FC236}">
                <a16:creationId xmlns:a16="http://schemas.microsoft.com/office/drawing/2014/main" id="{49CE7A75-9A8E-4EDF-B552-5806473AF677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Technical assessment and limitations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1F7897-AEA5-4074-8A97-2692E10A62D1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A5715006-F728-4345-9B31-3A76C4FD43CC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F5E78665-2C3E-40B5-B011-753FE1B3F2B9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23 / 26">
            <a:extLst>
              <a:ext uri="{FF2B5EF4-FFF2-40B4-BE49-F238E27FC236}">
                <a16:creationId xmlns:a16="http://schemas.microsoft.com/office/drawing/2014/main" id="{0B154CF3-FEAD-4951-8833-5B00A9AD42DC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23 /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What works well, and what would be the next engineering improvements?</a:t>
            </a:r>
          </a:p>
        </p:txBody>
      </p:sp>
      <p:sp>
        <p:nvSpPr>
          <p:cNvPr id="22" name="Mocne strony"/>
          <p:cNvSpPr/>
          <p:nvPr/>
        </p:nvSpPr>
        <p:spPr>
          <a:xfrm>
            <a:off x="475488" y="2377440"/>
            <a:ext cx="5440680" cy="2349500"/>
          </a:xfrm>
          <a:prstGeom prst="roundRect">
            <a:avLst>
              <a:gd name="adj" fmla="val 6274"/>
            </a:avLst>
          </a:prstGeom>
          <a:solidFill>
            <a:srgbClr val="EAE8F5"/>
          </a:solidFill>
          <a:ln>
            <a:noFill/>
          </a:ln>
        </p:spPr>
        <p:txBody>
          <a:bodyPr wrap="square" lIns="201168" tIns="146304" rIns="182880" bIns="91440" rtlCol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Strengths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End-to-end demo: data release, training, serving and monitoring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Model versioning and automated champion selection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Separate data-drift and technical API monitoring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Accessible demonstration through Streamlit</a:t>
            </a:r>
          </a:p>
        </p:txBody>
      </p:sp>
      <p:sp>
        <p:nvSpPr>
          <p:cNvPr id="23" name="Usprawnienia"/>
          <p:cNvSpPr/>
          <p:nvPr/>
        </p:nvSpPr>
        <p:spPr>
          <a:xfrm>
            <a:off x="6272783" y="2377440"/>
            <a:ext cx="5440679" cy="2349500"/>
          </a:xfrm>
          <a:prstGeom prst="roundRect">
            <a:avLst>
              <a:gd name="adj" fmla="val 6274"/>
            </a:avLst>
          </a:prstGeom>
          <a:solidFill>
            <a:srgbClr val="F8E9E4"/>
          </a:solidFill>
          <a:ln>
            <a:noFill/>
          </a:ln>
        </p:spPr>
        <p:txBody>
          <a:bodyPr wrap="square" lIns="201168" tIns="146304" rIns="182880" bIns="91440" rtlCol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Improvements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lang="en-US" sz="1400" b="0" i="0">
                <a:solidFill>
                  <a:srgbClr val="686783"/>
                </a:solidFill>
                <a:latin typeface="Aptos"/>
              </a:rPr>
              <a:t>Selecting the champion on test AUROC risks </a:t>
            </a:r>
            <a:r>
              <a:rPr lang="en-US" sz="1400" b="1" i="0">
                <a:solidFill>
                  <a:srgbClr val="37377F"/>
                </a:solidFill>
                <a:latin typeface="Aptos"/>
              </a:rPr>
              <a:t>test-set overfitting</a:t>
            </a:r>
            <a:r>
              <a:rPr lang="en-US" sz="1400" b="0" i="0">
                <a:solidFill>
                  <a:srgbClr val="686783"/>
                </a:solidFill>
                <a:latin typeface="Aptos"/>
              </a:rPr>
              <a:t> over time.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Stored report formats and thresholding logic are not fully uniform.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Low Pill AUROC requires further diagnosis.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686783"/>
                </a:solidFill>
                <a:latin typeface="Aptos"/>
              </a:rPr>
              <a:t>DVC and CI/CD remain planned according to project documentation.</a:t>
            </a:r>
          </a:p>
        </p:txBody>
      </p:sp>
      <p:sp>
        <p:nvSpPr>
          <p:cNvPr id="24" name="accent"/>
          <p:cNvSpPr/>
          <p:nvPr/>
        </p:nvSpPr>
        <p:spPr>
          <a:xfrm>
            <a:off x="475488" y="5054600"/>
            <a:ext cx="667512" cy="13716"/>
          </a:xfrm>
          <a:prstGeom prst="rect">
            <a:avLst/>
          </a:prstGeom>
          <a:solidFill>
            <a:srgbClr val="E6B0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62456" y="4902200"/>
            <a:ext cx="1035100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37377F"/>
                </a:solidFill>
                <a:latin typeface="Aptos"/>
              </a:rPr>
              <a:t>Recommended: select candidate models on a dedicated validation set and keep one untouched final test set.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943600"/>
            <a:ext cx="11237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 i="0">
                <a:solidFill>
                  <a:srgbClr val="686783"/>
                </a:solidFill>
                <a:latin typeface="Aptos"/>
              </a:rPr>
              <a:t>Source: src/training.py, src/evaluate.py, README.md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E9D3B25E-16FA-4605-9F58-CC5BB2E54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E729B9D9-F223-4C0E-B571-35CE2751C3A6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4090726409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72E5FCA-BF01-48EC-BE23-76FF07E449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E01A72-7117-4BBA-A447-534066975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DE314CE1-20AF-475B-BBCE-A72432EEA87C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LIVE DEMO">
            <a:extLst>
              <a:ext uri="{FF2B5EF4-FFF2-40B4-BE49-F238E27FC236}">
                <a16:creationId xmlns:a16="http://schemas.microsoft.com/office/drawing/2014/main" id="{3445BA73-3C83-45C2-AE0C-4795D303EE3C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9" name="Demonstracja pełnego cyklu aplikacji">
            <a:extLst>
              <a:ext uri="{FF2B5EF4-FFF2-40B4-BE49-F238E27FC236}">
                <a16:creationId xmlns:a16="http://schemas.microsoft.com/office/drawing/2014/main" id="{317616B9-F615-4631-B3F2-B796A50B92D7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Live demonstration and key takeaways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A47DD-9425-41BA-AAAA-7CF7CD13E189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CB4F974E-A036-4D87-8221-A9642105D754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DDFCA09D-0E8A-486D-AF79-1DC1F1FDDA2C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24 / 26">
            <a:extLst>
              <a:ext uri="{FF2B5EF4-FFF2-40B4-BE49-F238E27FC236}">
                <a16:creationId xmlns:a16="http://schemas.microsoft.com/office/drawing/2014/main" id="{D7D20EF5-942B-4C12-AF02-405D0152E64D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24 /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1947672"/>
            <a:ext cx="1123797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686783"/>
                </a:solidFill>
                <a:latin typeface="Aptos"/>
              </a:rPr>
              <a:t>Walk through the complete lifecycle: new data, training, deployment, monitoring</a:t>
            </a:r>
          </a:p>
        </p:txBody>
      </p:sp>
      <p:sp>
        <p:nvSpPr>
          <p:cNvPr id="28" name="Wejście"/>
          <p:cNvSpPr/>
          <p:nvPr/>
        </p:nvSpPr>
        <p:spPr>
          <a:xfrm>
            <a:off x="475488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Start Docker services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Check batch availability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02023" y="2889503"/>
            <a:ext cx="301753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0" name="Proces"/>
          <p:cNvSpPr/>
          <p:nvPr/>
        </p:nvSpPr>
        <p:spPr>
          <a:xfrm>
            <a:off x="4358639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EAE8F5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Process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Release next batch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Run Airflow training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Inspect MLflow champion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85176" y="2889503"/>
            <a:ext cx="301751" cy="0"/>
          </a:xfrm>
          <a:prstGeom prst="line">
            <a:avLst/>
          </a:prstGeom>
          <a:ln w="19050">
            <a:solidFill>
              <a:srgbClr val="56519A"/>
            </a:solidFill>
            <a:tailEnd type="triangle" w="med" len="med"/>
          </a:ln>
        </p:spPr>
      </p:cxnSp>
      <p:sp>
        <p:nvSpPr>
          <p:cNvPr id="32" name="Wyjście"/>
          <p:cNvSpPr/>
          <p:nvPr/>
        </p:nvSpPr>
        <p:spPr>
          <a:xfrm>
            <a:off x="8241791" y="2331720"/>
            <a:ext cx="3471672" cy="1115568"/>
          </a:xfrm>
          <a:prstGeom prst="roundRect">
            <a:avLst>
              <a:gd name="adj" fmla="val 13114"/>
            </a:avLst>
          </a:prstGeom>
          <a:solidFill>
            <a:srgbClr val="F8E9E4"/>
          </a:solidFill>
          <a:ln>
            <a:noFill/>
          </a:ln>
        </p:spPr>
        <p:txBody>
          <a:bodyPr wrap="square" lIns="164592" tIns="109728" rIns="146304" bIns="73152" rtlCol="0" anchor="t">
            <a:noAutofit/>
          </a:bodyPr>
          <a:lstStyle/>
          <a:p>
            <a:pPr algn="l"/>
            <a:r>
              <a:rPr sz="1500" b="1" i="0">
                <a:solidFill>
                  <a:srgbClr val="37377F"/>
                </a:solidFill>
                <a:latin typeface="Aptos"/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Select image in Streamlit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Inspect score and model version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86783"/>
                </a:solidFill>
                <a:latin typeface="Aptos"/>
              </a:rPr>
              <a:t>Open dashboards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3657600"/>
            <a:ext cx="5394960" cy="178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Demo commands and links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docker compose up -d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localhost:8501 (Streamlit)</a:t>
            </a:r>
          </a:p>
          <a:p>
            <a:pPr marL="164592" indent="-164592" algn="l">
              <a:spcBef>
                <a:spcPts val="5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686783"/>
                </a:solidFill>
                <a:latin typeface="Aptos"/>
              </a:rPr>
              <a:t>localhost:8081 (Airflow)</a:t>
            </a:r>
          </a:p>
        </p:txBody>
      </p:sp>
      <p:sp>
        <p:nvSpPr>
          <p:cNvPr id="36" name="Kluczowe wnioski"/>
          <p:cNvSpPr/>
          <p:nvPr/>
        </p:nvSpPr>
        <p:spPr>
          <a:xfrm>
            <a:off x="6318504" y="3657600"/>
            <a:ext cx="5394960" cy="1691640"/>
          </a:xfrm>
          <a:prstGeom prst="roundRect">
            <a:avLst>
              <a:gd name="adj" fmla="val 8648"/>
            </a:avLst>
          </a:prstGeom>
          <a:solidFill>
            <a:srgbClr val="DFDCF0"/>
          </a:solidFill>
          <a:ln>
            <a:noFill/>
          </a:ln>
        </p:spPr>
        <p:txBody>
          <a:bodyPr wrap="square" lIns="201168" tIns="146304" rIns="182880" bIns="91440" rtlCol="0" anchor="t">
            <a:noAutofit/>
          </a:bodyPr>
          <a:lstStyle/>
          <a:p>
            <a:pPr algn="l"/>
            <a:r>
              <a:rPr sz="1550" b="1" i="0">
                <a:solidFill>
                  <a:srgbClr val="37377F"/>
                </a:solidFill>
                <a:latin typeface="Aptos"/>
              </a:rPr>
              <a:t>Key takeaways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1" i="0">
                <a:solidFill>
                  <a:srgbClr val="37377F"/>
                </a:solidFill>
                <a:latin typeface="Aptos"/>
              </a:rPr>
              <a:t>The CAE is the core visual anomaly detection model.</a:t>
            </a:r>
          </a:p>
          <a:p>
            <a:pPr marL="164592" indent="-164592" algn="l">
              <a:spcBef>
                <a:spcPts val="200"/>
              </a:spcBef>
              <a:buClr>
                <a:srgbClr val="56519A"/>
              </a:buClr>
              <a:buSzPct val="100000"/>
              <a:buFont typeface="Arial"/>
              <a:buChar char="•"/>
            </a:pPr>
            <a:r>
              <a:rPr sz="1400" b="1" i="0">
                <a:solidFill>
                  <a:srgbClr val="37377F"/>
                </a:solidFill>
                <a:latin typeface="Aptos"/>
              </a:rPr>
              <a:t>MLOps services automate, version and monitor its lifecycle.</a:t>
            </a:r>
          </a:p>
        </p:txBody>
      </p:sp>
      <p:pic>
        <p:nvPicPr>
          <p:cNvPr id="14" name="Sorbonne logo">
            <a:extLst>
              <a:ext uri="{FF2B5EF4-FFF2-40B4-BE49-F238E27FC236}">
                <a16:creationId xmlns:a16="http://schemas.microsoft.com/office/drawing/2014/main" id="{A73D26B8-6E40-AB8D-5A2F-7429E0F84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6EF81D36-AFA8-4578-AFC9-722AB9C12FC3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1090420036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DBA631C-1205-41A9-8073-75DE5C26AE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F0AB46-D67D-4AEE-A08E-A3E7F1E98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93983849-D43C-4C31-9EAD-BA51B375F218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REZULTAT I DALSZY KROK">
            <a:extLst>
              <a:ext uri="{FF2B5EF4-FFF2-40B4-BE49-F238E27FC236}">
                <a16:creationId xmlns:a16="http://schemas.microsoft.com/office/drawing/2014/main" id="{A7274766-74F0-4C9A-AFED-A3BE0747FDCB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OUTCOME AND NEXT STEPS</a:t>
            </a:r>
          </a:p>
        </p:txBody>
      </p:sp>
      <p:sp>
        <p:nvSpPr>
          <p:cNvPr id="9" name="Wspólny proces, osobny model każdego produktu">
            <a:extLst>
              <a:ext uri="{FF2B5EF4-FFF2-40B4-BE49-F238E27FC236}">
                <a16:creationId xmlns:a16="http://schemas.microsoft.com/office/drawing/2014/main" id="{E51BDB56-3C3E-4231-A4AC-003417A50898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 dirty="0" err="1">
                <a:solidFill>
                  <a:srgbClr val="37377F"/>
                </a:solidFill>
                <a:latin typeface="Aptos"/>
                <a:ea typeface="Aptos"/>
                <a:cs typeface="Aptos"/>
              </a:rPr>
              <a:t>One shared ML workflow, a separate model per product</a:t>
            </a:r>
            <a:endParaRPr sz="2925" b="1" dirty="0">
              <a:solidFill>
                <a:srgbClr val="37377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E82F61-9419-4D5C-9C54-ADA7BAF1AE72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7E488BF1-5446-497B-83A6-3E978BF56BBA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88065492-5A51-4E1B-BBD8-5FCA0F8C6DBA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</a:t>
            </a: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Paweł Flak</a:t>
            </a:r>
          </a:p>
        </p:txBody>
      </p:sp>
      <p:sp>
        <p:nvSpPr>
          <p:cNvPr id="13" name="25 / 26">
            <a:extLst>
              <a:ext uri="{FF2B5EF4-FFF2-40B4-BE49-F238E27FC236}">
                <a16:creationId xmlns:a16="http://schemas.microsoft.com/office/drawing/2014/main" id="{EC0154B6-6741-4624-A34B-87A259F63ABA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 / 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4B0A3B-59E5-4A38-B263-8DAEBAD80E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099" b="14099"/>
          <a:stretch>
            <a:fillRect/>
          </a:stretch>
        </p:blipFill>
        <p:spPr>
          <a:xfrm>
            <a:off x="476250" y="2516457"/>
            <a:ext cx="3562350" cy="1439561"/>
          </a:xfrm>
          <a:prstGeom prst="roundRect">
            <a:avLst>
              <a:gd name="adj" fmla="val 15880"/>
            </a:avLst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8E4C54-92C6-4135-8B85-FC44C9E6E5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099" b="14099"/>
          <a:stretch>
            <a:fillRect/>
          </a:stretch>
        </p:blipFill>
        <p:spPr>
          <a:xfrm>
            <a:off x="4314825" y="2516457"/>
            <a:ext cx="3562350" cy="1439561"/>
          </a:xfrm>
          <a:prstGeom prst="roundRect">
            <a:avLst>
              <a:gd name="adj" fmla="val 15880"/>
            </a:avLst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3A526B-5E61-4054-9EB2-4B3C943BFA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099" b="14099"/>
          <a:stretch>
            <a:fillRect/>
          </a:stretch>
        </p:blipFill>
        <p:spPr>
          <a:xfrm>
            <a:off x="8153400" y="2516457"/>
            <a:ext cx="3562350" cy="1439561"/>
          </a:xfrm>
          <a:prstGeom prst="roundRect">
            <a:avLst>
              <a:gd name="adj" fmla="val 15880"/>
            </a:avLst>
          </a:prstGeom>
        </p:spPr>
      </p:pic>
      <p:sp>
        <p:nvSpPr>
          <p:cNvPr id="17" name="Automatyzacja">
            <a:extLst>
              <a:ext uri="{FF2B5EF4-FFF2-40B4-BE49-F238E27FC236}">
                <a16:creationId xmlns:a16="http://schemas.microsoft.com/office/drawing/2014/main" id="{11B4444D-E491-4135-A803-61C91E832EB9}"/>
              </a:ext>
            </a:extLst>
          </p:cNvPr>
          <p:cNvSpPr>
            <a:spLocks noGrp="1"/>
          </p:cNvSpPr>
          <p:nvPr/>
        </p:nvSpPr>
        <p:spPr>
          <a:xfrm>
            <a:off x="476250" y="4249103"/>
            <a:ext cx="3562350" cy="35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99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8" name="Dane uruchamiają powtarzalny trening.">
            <a:extLst>
              <a:ext uri="{FF2B5EF4-FFF2-40B4-BE49-F238E27FC236}">
                <a16:creationId xmlns:a16="http://schemas.microsoft.com/office/drawing/2014/main" id="{9A9CF676-3874-43F0-91BF-6D93B2B72600}"/>
              </a:ext>
            </a:extLst>
          </p:cNvPr>
          <p:cNvSpPr>
            <a:spLocks noGrp="1"/>
          </p:cNvSpPr>
          <p:nvPr/>
        </p:nvSpPr>
        <p:spPr>
          <a:xfrm>
            <a:off x="476250" y="4740449"/>
            <a:ext cx="3562350" cy="72409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852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New data triggers reproducible retraining.</a:t>
            </a:r>
          </a:p>
        </p:txBody>
      </p:sp>
      <p:sp>
        <p:nvSpPr>
          <p:cNvPr id="19" name="Identyfikowalność">
            <a:extLst>
              <a:ext uri="{FF2B5EF4-FFF2-40B4-BE49-F238E27FC236}">
                <a16:creationId xmlns:a16="http://schemas.microsoft.com/office/drawing/2014/main" id="{A886CBAA-3A9A-4011-AD3D-C3ACEB1C000D}"/>
              </a:ext>
            </a:extLst>
          </p:cNvPr>
          <p:cNvSpPr>
            <a:spLocks noGrp="1"/>
          </p:cNvSpPr>
          <p:nvPr/>
        </p:nvSpPr>
        <p:spPr>
          <a:xfrm>
            <a:off x="4314825" y="4249103"/>
            <a:ext cx="3562350" cy="35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99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20" name="Każda odpowiedź wskazuje wersję modelu.">
            <a:extLst>
              <a:ext uri="{FF2B5EF4-FFF2-40B4-BE49-F238E27FC236}">
                <a16:creationId xmlns:a16="http://schemas.microsoft.com/office/drawing/2014/main" id="{A8649434-B5B6-4B3D-80AF-BEBD1C819563}"/>
              </a:ext>
            </a:extLst>
          </p:cNvPr>
          <p:cNvSpPr>
            <a:spLocks noGrp="1"/>
          </p:cNvSpPr>
          <p:nvPr/>
        </p:nvSpPr>
        <p:spPr>
          <a:xfrm>
            <a:off x="4314825" y="4740449"/>
            <a:ext cx="3562350" cy="72409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852" b="0">
                <a:solidFill>
                  <a:srgbClr val="686783"/>
                </a:solidFill>
                <a:latin typeface="Aptos"/>
                <a:ea typeface="Aptos"/>
                <a:cs typeface="Aptos"/>
              </a:rPr>
              <a:t>Every response identifies the model version.</a:t>
            </a:r>
          </a:p>
        </p:txBody>
      </p:sp>
      <p:sp>
        <p:nvSpPr>
          <p:cNvPr id="21" name="Obserwacja">
            <a:extLst>
              <a:ext uri="{FF2B5EF4-FFF2-40B4-BE49-F238E27FC236}">
                <a16:creationId xmlns:a16="http://schemas.microsoft.com/office/drawing/2014/main" id="{58665A39-4762-4D36-BBBA-9A8E0F27ED57}"/>
              </a:ext>
            </a:extLst>
          </p:cNvPr>
          <p:cNvSpPr>
            <a:spLocks noGrp="1"/>
          </p:cNvSpPr>
          <p:nvPr/>
        </p:nvSpPr>
        <p:spPr>
          <a:xfrm>
            <a:off x="8153400" y="4249103"/>
            <a:ext cx="3562350" cy="35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99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99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22" name="Zespół widzi stan usługi i zmianę danych.">
            <a:extLst>
              <a:ext uri="{FF2B5EF4-FFF2-40B4-BE49-F238E27FC236}">
                <a16:creationId xmlns:a16="http://schemas.microsoft.com/office/drawing/2014/main" id="{5ABA5CBC-4C34-470B-807F-703DF5AE19F1}"/>
              </a:ext>
            </a:extLst>
          </p:cNvPr>
          <p:cNvSpPr>
            <a:spLocks noGrp="1"/>
          </p:cNvSpPr>
          <p:nvPr/>
        </p:nvSpPr>
        <p:spPr>
          <a:xfrm>
            <a:off x="8153400" y="4740449"/>
            <a:ext cx="3562350" cy="72409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52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1852" b="0" dirty="0">
                <a:solidFill>
                  <a:srgbClr val="686783"/>
                </a:solidFill>
                <a:latin typeface="Aptos"/>
                <a:ea typeface="Aptos"/>
                <a:cs typeface="Aptos"/>
              </a:rPr>
              <a:t>Dashboards expose service health and data drift.</a:t>
            </a:r>
          </a:p>
        </p:txBody>
      </p:sp>
      <p:pic>
        <p:nvPicPr>
          <p:cNvPr id="28" name="Sorbonne logo">
            <a:extLst>
              <a:ext uri="{FF2B5EF4-FFF2-40B4-BE49-F238E27FC236}">
                <a16:creationId xmlns:a16="http://schemas.microsoft.com/office/drawing/2014/main" id="{72CD468C-22DE-1BB0-97EE-5B0A18020A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29" name="CERTIFICATION EXAM  /  MLOPS">
            <a:extLst>
              <a:ext uri="{FF2B5EF4-FFF2-40B4-BE49-F238E27FC236}">
                <a16:creationId xmlns:a16="http://schemas.microsoft.com/office/drawing/2014/main" id="{DD5C5040-210F-458E-B784-F2F7B6180EB7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1649508623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808019D-CE18-4874-A785-2B1DEBA607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66775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325C72-E02D-420B-BA5B-46EA0E269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887" y="152400"/>
            <a:ext cx="1149251" cy="514350"/>
          </a:xfrm>
          <a:prstGeom prst="rect">
            <a:avLst/>
          </a:prstGeom>
        </p:spPr>
      </p:pic>
      <p:sp>
        <p:nvSpPr>
          <p:cNvPr id="4" name="Machine Learning Engineer">
            <a:extLst>
              <a:ext uri="{FF2B5EF4-FFF2-40B4-BE49-F238E27FC236}">
                <a16:creationId xmlns:a16="http://schemas.microsoft.com/office/drawing/2014/main" id="{5287D98C-336F-4D99-B1F1-82310C8140C5}"/>
              </a:ext>
            </a:extLst>
          </p:cNvPr>
          <p:cNvSpPr>
            <a:spLocks noGrp="1"/>
          </p:cNvSpPr>
          <p:nvPr/>
        </p:nvSpPr>
        <p:spPr>
          <a:xfrm>
            <a:off x="2047875" y="285750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Engineer</a:t>
            </a:r>
          </a:p>
        </p:txBody>
      </p:sp>
      <p:sp>
        <p:nvSpPr>
          <p:cNvPr id="8" name="PAWEŁ / LIORA / CERTIFICATION EXAM">
            <a:extLst>
              <a:ext uri="{FF2B5EF4-FFF2-40B4-BE49-F238E27FC236}">
                <a16:creationId xmlns:a16="http://schemas.microsoft.com/office/drawing/2014/main" id="{D4B56211-B3A8-416C-8D86-8A0A3CDAC936}"/>
              </a:ext>
            </a:extLst>
          </p:cNvPr>
          <p:cNvSpPr>
            <a:spLocks noGrp="1"/>
          </p:cNvSpPr>
          <p:nvPr/>
        </p:nvSpPr>
        <p:spPr>
          <a:xfrm>
            <a:off x="476250" y="1009650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519A"/>
                </a:solidFill>
                <a:latin typeface="Aptos"/>
                <a:ea typeface="Aptos"/>
                <a:cs typeface="Aptos"/>
              </a:rPr>
              <a:t>AUTHORS AND SOURCES</a:t>
            </a:r>
          </a:p>
        </p:txBody>
      </p:sp>
      <p:sp>
        <p:nvSpPr>
          <p:cNvPr id="9" name="Projekt, autorzy i źródła">
            <a:extLst>
              <a:ext uri="{FF2B5EF4-FFF2-40B4-BE49-F238E27FC236}">
                <a16:creationId xmlns:a16="http://schemas.microsoft.com/office/drawing/2014/main" id="{C2AB2EC6-F7B7-4C7C-921A-2B126A35796E}"/>
              </a:ext>
            </a:extLst>
          </p:cNvPr>
          <p:cNvSpPr>
            <a:spLocks noGrp="1"/>
          </p:cNvSpPr>
          <p:nvPr/>
        </p:nvSpPr>
        <p:spPr>
          <a:xfrm>
            <a:off x="476250" y="1304925"/>
            <a:ext cx="11239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925" b="1">
                <a:solidFill>
                  <a:srgbClr val="37377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37377F"/>
                </a:solidFill>
                <a:latin typeface="Aptos"/>
                <a:ea typeface="Aptos"/>
                <a:cs typeface="Aptos"/>
              </a:rPr>
              <a:t>Project, authors and 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4C6B1-A19B-44B3-BCC0-9AC98AB41B8C}"/>
              </a:ext>
            </a:extLst>
          </p:cNvPr>
          <p:cNvSpPr>
            <a:spLocks noGrp="1"/>
          </p:cNvSpPr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37377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youb Hamdoun, Mohamed Bouraaman, Paweł Flak">
            <a:extLst>
              <a:ext uri="{FF2B5EF4-FFF2-40B4-BE49-F238E27FC236}">
                <a16:creationId xmlns:a16="http://schemas.microsoft.com/office/drawing/2014/main" id="{BE57E7A4-CEBF-4174-B5B6-293A4C80DAFB}"/>
              </a:ext>
            </a:extLst>
          </p:cNvPr>
          <p:cNvSpPr>
            <a:spLocks noGrp="1"/>
          </p:cNvSpPr>
          <p:nvPr/>
        </p:nvSpPr>
        <p:spPr>
          <a:xfrm>
            <a:off x="476250" y="6508750"/>
            <a:ext cx="790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D9D6E8"/>
                </a:solidFill>
                <a:latin typeface="Aptos"/>
                <a:ea typeface="Aptos"/>
                <a:cs typeface="Aptos"/>
              </a:rPr>
              <a:t>Ayoub Hamdoun, Mohamed Bouraaman, Paweł Flak</a:t>
            </a:r>
          </a:p>
        </p:txBody>
      </p:sp>
      <p:sp>
        <p:nvSpPr>
          <p:cNvPr id="12" name="Paweł Flak">
            <a:extLst>
              <a:ext uri="{FF2B5EF4-FFF2-40B4-BE49-F238E27FC236}">
                <a16:creationId xmlns:a16="http://schemas.microsoft.com/office/drawing/2014/main" id="{46BB3F41-FA28-4A88-9C4B-F0E2A4E9FEBF}"/>
              </a:ext>
            </a:extLst>
          </p:cNvPr>
          <p:cNvSpPr>
            <a:spLocks noGrp="1"/>
          </p:cNvSpPr>
          <p:nvPr/>
        </p:nvSpPr>
        <p:spPr>
          <a:xfrm>
            <a:off x="8572500" y="650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975" b="0">
                <a:solidFill>
                  <a:srgbClr val="686783"/>
                </a:solidFill>
                <a:latin typeface="Aptos"/>
                <a:ea typeface="Aptos"/>
                <a:cs typeface="Aptos"/>
              </a:defRPr>
            </a:pPr>
            <a:r>
              <a:rPr lang="en-US"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Presenting: Paweł Flak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26 / 26">
            <a:extLst>
              <a:ext uri="{FF2B5EF4-FFF2-40B4-BE49-F238E27FC236}">
                <a16:creationId xmlns:a16="http://schemas.microsoft.com/office/drawing/2014/main" id="{1C2816E4-7079-4576-AF49-01A92836229B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533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defPPr>
          </a:lstStyle>
          <a:p>
            <a:pPr algn="r">
              <a:defRPr sz="1050" b="1">
                <a:solidFill>
                  <a:srgbClr val="5651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 / 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205740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706AB0"/>
                </a:solidFill>
                <a:latin typeface="Aptos"/>
              </a:rPr>
              <a:t>AUTHORS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2331720"/>
            <a:ext cx="52120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 dirty="0">
                <a:solidFill>
                  <a:srgbClr val="37377F"/>
                </a:solidFill>
                <a:latin typeface="Aptos"/>
              </a:rPr>
              <a:t>Ayoub Hamdoun</a:t>
            </a:r>
            <a:r>
              <a:rPr sz="1250" b="0" i="0" dirty="0">
                <a:solidFill>
                  <a:srgbClr val="706AB0"/>
                </a:solidFill>
                <a:latin typeface="Aptos"/>
              </a:rPr>
              <a:t>   ahamdoun14</a:t>
            </a:r>
          </a:p>
          <a:p>
            <a:pPr algn="l">
              <a:spcBef>
                <a:spcPts val="400"/>
              </a:spcBef>
            </a:pPr>
            <a:r>
              <a:rPr sz="1900" b="1" i="0" dirty="0">
                <a:solidFill>
                  <a:srgbClr val="37377F"/>
                </a:solidFill>
                <a:latin typeface="Aptos"/>
              </a:rPr>
              <a:t>Mohamed Bouraaman</a:t>
            </a:r>
            <a:r>
              <a:rPr sz="1250" b="0" i="0" dirty="0">
                <a:solidFill>
                  <a:srgbClr val="706AB0"/>
                </a:solidFill>
                <a:latin typeface="Aptos"/>
              </a:rPr>
              <a:t>   </a:t>
            </a:r>
            <a:r>
              <a:rPr sz="1250" b="0" i="0" dirty="0" err="1">
                <a:solidFill>
                  <a:srgbClr val="706AB0"/>
                </a:solidFill>
                <a:latin typeface="Aptos"/>
              </a:rPr>
              <a:t>mbrmpro</a:t>
            </a:r>
            <a:endParaRPr sz="1250" b="0" i="0" dirty="0">
              <a:solidFill>
                <a:srgbClr val="706AB0"/>
              </a:solidFill>
              <a:latin typeface="Aptos"/>
            </a:endParaRPr>
          </a:p>
          <a:p>
            <a:pPr algn="l">
              <a:spcBef>
                <a:spcPts val="400"/>
              </a:spcBef>
            </a:pPr>
            <a:r>
              <a:rPr sz="1900" b="1" i="0" dirty="0">
                <a:solidFill>
                  <a:srgbClr val="37377F"/>
                </a:solidFill>
                <a:latin typeface="Aptos"/>
              </a:rPr>
              <a:t>Paweł Flak</a:t>
            </a:r>
            <a:r>
              <a:rPr sz="1250" b="0" i="0" dirty="0">
                <a:solidFill>
                  <a:srgbClr val="706AB0"/>
                </a:solidFill>
                <a:latin typeface="Aptos"/>
              </a:rPr>
              <a:t>   flak92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93192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500" b="0" i="0" dirty="0">
                <a:solidFill>
                  <a:srgbClr val="706AB0"/>
                </a:solidFill>
                <a:latin typeface="Aptos"/>
              </a:rPr>
              <a:t>Mentor: Nicolas</a:t>
            </a:r>
            <a:r>
              <a:rPr lang="pl-PL" sz="1500" b="0" i="0" dirty="0">
                <a:solidFill>
                  <a:srgbClr val="706AB0"/>
                </a:solidFill>
                <a:latin typeface="Aptos"/>
              </a:rPr>
              <a:t> </a:t>
            </a:r>
            <a:r>
              <a:rPr lang="en-US" sz="1500" dirty="0">
                <a:solidFill>
                  <a:srgbClr val="706AB0"/>
                </a:solidFill>
              </a:rPr>
              <a:t>Fradin</a:t>
            </a:r>
            <a:endParaRPr sz="1500" b="0" i="0" dirty="0">
              <a:solidFill>
                <a:srgbClr val="706AB0"/>
              </a:solidFill>
              <a:latin typeface="Aptos"/>
            </a:endParaRPr>
          </a:p>
          <a:p>
            <a:pPr algn="l">
              <a:spcBef>
                <a:spcPts val="400"/>
              </a:spcBef>
            </a:pPr>
            <a:r>
              <a:rPr sz="1400" b="0" i="0" dirty="0">
                <a:solidFill>
                  <a:srgbClr val="37377F"/>
                </a:solidFill>
                <a:latin typeface="Aptos"/>
              </a:rPr>
              <a:t>Machine Learning Engineer · MLOps certification project</a:t>
            </a:r>
          </a:p>
          <a:p>
            <a:pPr algn="l">
              <a:spcBef>
                <a:spcPts val="100"/>
              </a:spcBef>
            </a:pPr>
            <a:r>
              <a:rPr sz="1400" b="0" i="0" dirty="0">
                <a:solidFill>
                  <a:srgbClr val="37377F"/>
                </a:solidFill>
                <a:latin typeface="Aptos"/>
              </a:rPr>
              <a:t>15.10.2026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98348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37377F"/>
                </a:solidFill>
                <a:latin typeface="Aptos"/>
              </a:rPr>
              <a:t>Thank you!</a:t>
            </a:r>
          </a:p>
        </p:txBody>
      </p:sp>
      <p:graphicFrame>
        <p:nvGraphicFramePr>
          <p:cNvPr id="30" name="Źródła"/>
          <p:cNvGraphicFramePr>
            <a:graphicFrameLocks noGrp="1"/>
          </p:cNvGraphicFramePr>
          <p:nvPr/>
        </p:nvGraphicFramePr>
        <p:xfrm>
          <a:off x="5989320" y="2057400"/>
          <a:ext cx="5724143" cy="23103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 dirty="0">
                          <a:solidFill>
                            <a:srgbClr val="37377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dirty="0">
                          <a:solidFill>
                            <a:srgbClr val="37377F"/>
                          </a:solidFill>
                          <a:latin typeface="Aptos"/>
                        </a:rPr>
                        <a:t>Reference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 dirty="0">
                          <a:solidFill>
                            <a:srgbClr val="37377F"/>
                          </a:solidFill>
                          <a:latin typeface="Aptos"/>
                        </a:rPr>
                        <a:t>Technical </a:t>
                      </a:r>
                      <a:r>
                        <a:rPr lang="pl-PL" sz="1400" b="1" i="0" dirty="0">
                          <a:solidFill>
                            <a:srgbClr val="37377F"/>
                          </a:solidFill>
                          <a:latin typeface="Aptos"/>
                        </a:rPr>
                        <a:t>C</a:t>
                      </a:r>
                      <a:r>
                        <a:rPr sz="1400" b="1" i="0" dirty="0" err="1">
                          <a:solidFill>
                            <a:srgbClr val="37377F"/>
                          </a:solidFill>
                          <a:latin typeface="Aptos"/>
                        </a:rPr>
                        <a:t>ontent</a:t>
                      </a:r>
                      <a:endParaRPr sz="1400" b="1" i="0" dirty="0">
                        <a:solidFill>
                          <a:srgbClr val="37377F"/>
                        </a:solidFill>
                        <a:latin typeface="Aptos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686783"/>
                          </a:solidFill>
                          <a:latin typeface="Aptos"/>
                        </a:rPr>
                        <a:t>anomaly_detection.pdf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l-PL" sz="1400" b="1" i="0" dirty="0" err="1">
                          <a:solidFill>
                            <a:srgbClr val="37377F"/>
                          </a:solidFill>
                          <a:latin typeface="Aptos"/>
                        </a:rPr>
                        <a:t>GitHub Repository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 err="1">
                          <a:solidFill>
                            <a:srgbClr val="686783"/>
                          </a:solidFill>
                          <a:latin typeface="Aptos"/>
                        </a:rPr>
                        <a:t>mbrmpro</a:t>
                      </a:r>
                      <a:r>
                        <a:rPr sz="1400" b="0" i="0" dirty="0">
                          <a:solidFill>
                            <a:srgbClr val="686783"/>
                          </a:solidFill>
                          <a:latin typeface="Aptos"/>
                        </a:rPr>
                        <a:t>/</a:t>
                      </a:r>
                      <a:r>
                        <a:rPr sz="1400" b="0" i="0" dirty="0" err="1">
                          <a:solidFill>
                            <a:srgbClr val="686783"/>
                          </a:solidFill>
                          <a:latin typeface="Aptos"/>
                        </a:rPr>
                        <a:t>mlops_anomaly_detection</a:t>
                      </a:r>
                      <a:endParaRPr sz="1400" b="0" i="0" dirty="0">
                        <a:solidFill>
                          <a:srgbClr val="686783"/>
                        </a:solidFill>
                        <a:latin typeface="Aptos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 dirty="0">
                          <a:solidFill>
                            <a:srgbClr val="37377F"/>
                          </a:solidFill>
                          <a:latin typeface="Aptos"/>
                        </a:rPr>
                        <a:t>Product </a:t>
                      </a:r>
                      <a:r>
                        <a:rPr lang="pl-PL" sz="1400" b="1" i="0" dirty="0">
                          <a:solidFill>
                            <a:srgbClr val="37377F"/>
                          </a:solidFill>
                          <a:latin typeface="Aptos"/>
                        </a:rPr>
                        <a:t>P</a:t>
                      </a:r>
                      <a:r>
                        <a:rPr sz="1400" b="1" i="0" dirty="0" err="1">
                          <a:solidFill>
                            <a:srgbClr val="37377F"/>
                          </a:solidFill>
                          <a:latin typeface="Aptos"/>
                        </a:rPr>
                        <a:t>hotographs</a:t>
                      </a:r>
                      <a:endParaRPr sz="1400" b="1" i="0" dirty="0">
                        <a:solidFill>
                          <a:srgbClr val="37377F"/>
                        </a:solidFill>
                        <a:latin typeface="Aptos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 err="1">
                          <a:solidFill>
                            <a:srgbClr val="686783"/>
                          </a:solidFill>
                          <a:latin typeface="Aptos"/>
                        </a:rPr>
                        <a:t>MVTec AD · CC BY-NC-SA 4.0 licence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dirty="0">
                          <a:solidFill>
                            <a:srgbClr val="37377F"/>
                          </a:solidFill>
                          <a:latin typeface="Aptos"/>
                        </a:rPr>
                        <a:t>Use-case Illustrations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rgbClr val="686783"/>
                          </a:solidFill>
                          <a:latin typeface="Aptos"/>
                        </a:rPr>
                        <a:t>Generated with OpenAI GPT-6 Astra (slides 04, 05, 25)</a:t>
                      </a: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Sorbonne logo">
            <a:extLst>
              <a:ext uri="{FF2B5EF4-FFF2-40B4-BE49-F238E27FC236}">
                <a16:creationId xmlns:a16="http://schemas.microsoft.com/office/drawing/2014/main" id="{B5469B19-304F-7BA8-EC36-09EE42C3E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114300"/>
            <a:ext cx="1219200" cy="388747"/>
          </a:xfrm>
          <a:prstGeom prst="rect">
            <a:avLst/>
          </a:prstGeom>
        </p:spPr>
      </p:pic>
      <p:sp>
        <p:nvSpPr>
          <p:cNvPr id="15" name="CERTIFICATION EXAM  /  MLOPS">
            <a:extLst>
              <a:ext uri="{FF2B5EF4-FFF2-40B4-BE49-F238E27FC236}">
                <a16:creationId xmlns:a16="http://schemas.microsoft.com/office/drawing/2014/main" id="{3547D0C4-8640-4591-B600-32CB6B72A63D}"/>
              </a:ext>
            </a:extLst>
          </p:cNvPr>
          <p:cNvSpPr txBox="1"/>
          <p:nvPr/>
        </p:nvSpPr>
        <p:spPr>
          <a:xfrm>
            <a:off x="9321800" y="547751"/>
            <a:ext cx="2540000" cy="177800"/>
          </a:xfrm>
          <a:prstGeom prst="rect">
            <a:avLst/>
          </a:prstGeom>
          <a:noFill/>
        </p:spPr>
        <p:txBody>
          <a:bodyPr vertOverflow="overflow" vert="horz" wrap="none" lIns="0" tIns="0" rIns="0" bIns="0" rtlCol="0" anchor="t" anchorCtr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ptos"/>
              </a:rPr>
              <a:t>CERTIFICATION </a:t>
            </a:r>
            <a:r>
              <a:rPr lang="en-US" sz="900">
                <a:solidFill>
                  <a:srgbClr val="FFFFFF"/>
                </a:solidFill>
                <a:latin typeface="Aptos"/>
              </a:rPr>
              <a:t>·</a:t>
            </a:r>
            <a:r>
              <a:rPr lang="en-US" sz="850">
                <a:solidFill>
                  <a:srgbClr val="FFFFFF"/>
                </a:solidFill>
                <a:latin typeface="Aptos"/>
              </a:rPr>
              <a:t> Module: MLOPS</a:t>
            </a:r>
          </a:p>
        </p:txBody>
      </p:sp>
    </p:spTree>
    <p:extLst>
      <p:ext uri="{BB962C8B-B14F-4D97-AF65-F5344CB8AC3E}">
        <p14:creationId xmlns:p14="http://schemas.microsoft.com/office/powerpoint/2010/main" val="418049650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iora MLOps [1791844378932]">
  <a:themeElements>
    <a:clrScheme name="Liora MLOp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iora MLOp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39A3217-4EFC-4698-8F32-1A0EF08F6368}">
  <we:reference id="wa200010725" version="1.0.0.1" store="pl-PL" storeType="OMEX"/>
  <we:alternateReferences>
    <we:reference id="WA200010725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45112A4-82B7-427B-BEA8-EC286E634294}">
  <we:reference id="wa200010001" version="1.0.0.1" store="pl-PL" storeType="OMEX"/>
  <we:alternateReferences>
    <we:reference id="WA200010001" version="1.0.0.1" store="" storeType="OMEX"/>
  </we:alternateReferences>
  <we:properties>
    <we:property name="claude.fileId" value="&quot;87219148-fd90-4237-88cd-7f98aaa8873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4893</Words>
  <Application>Microsoft Office PowerPoint</Application>
  <DocSecurity>0</DocSecurity>
  <PresentationFormat>Widescreen</PresentationFormat>
  <Paragraphs>880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Aptos</vt:lpstr>
      <vt:lpstr>Arial</vt:lpstr>
      <vt:lpstr>Liora MLOps [1791844378932]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Liora – Uni Paris certification exam MLOPS 15.10.2026</dc:title>
  <dc:subject>Automatyzacja kontroli jakości dla trzech przedsiębiorstw</dc:subject>
  <dc:creator>Ayoub Hamdoun, Mohamed Bouraaman, Paweł Flak;Paweł Flak</dc:creator>
  <cp:lastModifiedBy>Pawel Flak</cp:lastModifiedBy>
  <cp:revision>4</cp:revision>
  <dcterms:created xsi:type="dcterms:W3CDTF">2026-10-12T17:22:21Z</dcterms:created>
  <dcterms:modified xsi:type="dcterms:W3CDTF">2026-10-12T22:48:11Z</dcterms:modified>
</cp:coreProperties>
</file>